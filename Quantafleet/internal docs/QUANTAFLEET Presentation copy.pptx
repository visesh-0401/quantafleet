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104.png" ContentType="image/png"/>
  <Override PartName="/ppt/media/image55.png" ContentType="image/png"/>
  <Override PartName="/ppt/media/image103.png" ContentType="image/png"/>
  <Override PartName="/ppt/media/image54.png" ContentType="image/png"/>
  <Override PartName="/ppt/media/image102.png" ContentType="image/png"/>
  <Override PartName="/ppt/media/image53.png" ContentType="image/png"/>
  <Override PartName="/ppt/media/image101.png" ContentType="image/png"/>
  <Override PartName="/ppt/media/image52.png" ContentType="image/png"/>
  <Override PartName="/ppt/media/image100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105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81.png" ContentType="image/png"/>
  <Override PartName="/ppt/media/image47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80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84.png" ContentType="image/png"/>
  <Override PartName="/ppt/media/image58.png" ContentType="image/png"/>
  <Override PartName="/ppt/media/image106.png" ContentType="image/png"/>
  <Override PartName="/ppt/media/image21.png" ContentType="image/png"/>
  <Override PartName="/ppt/media/image59.png" ContentType="image/png"/>
  <Override PartName="/ppt/media/image107.png" ContentType="image/png"/>
  <Override PartName="/ppt/media/image22.png" ContentType="image/png"/>
  <Override PartName="/ppt/media/image70.png" ContentType="image/png"/>
  <Override PartName="/ppt/media/image71.png" ContentType="image/png"/>
  <Override PartName="/ppt/media/image74.png" ContentType="image/png"/>
  <Override PartName="/ppt/media/image122.png" ContentType="image/png"/>
  <Override PartName="/ppt/media/image75.png" ContentType="image/png"/>
  <Override PartName="/ppt/media/image123.png" ContentType="image/png"/>
  <Override PartName="/ppt/media/image76.png" ContentType="image/png"/>
  <Override PartName="/ppt/media/image124.png" ContentType="image/png"/>
  <Override PartName="/ppt/media/image77.png" ContentType="image/png"/>
  <Override PartName="/ppt/media/image85.png" ContentType="image/png"/>
  <Override PartName="/ppt/media/image79.png" ContentType="image/png"/>
  <Override PartName="/ppt/media/image109.png" ContentType="image/png"/>
  <Override PartName="/ppt/media/image28.png" ContentType="image/png"/>
  <Override PartName="/ppt/media/image93.png" ContentType="image/png"/>
  <Override PartName="/ppt/media/image78.png" ContentType="image/png"/>
  <Override PartName="/ppt/media/image108.png" ContentType="image/png"/>
  <Override PartName="/ppt/media/image99.png" ContentType="image/png"/>
  <Override PartName="/ppt/media/image72.png" ContentType="image/png"/>
  <Override PartName="/ppt/media/image120.png" ContentType="image/png"/>
  <Override PartName="/ppt/media/image87.png" ContentType="image/png"/>
  <Override PartName="/ppt/media/image98.png" ContentType="image/png"/>
  <Override PartName="/ppt/media/image61.png" ContentType="image/png"/>
  <Override PartName="/ppt/media/image86.png" ContentType="image/png"/>
  <Override PartName="/ppt/media/image97.png" ContentType="image/png"/>
  <Override PartName="/ppt/media/image60.png" ContentType="image/png"/>
  <Override PartName="/ppt/media/image96.png" ContentType="image/png"/>
  <Override PartName="/ppt/media/image95.png" ContentType="image/png"/>
  <Override PartName="/ppt/media/image73.png" ContentType="image/png"/>
  <Override PartName="/ppt/media/image121.png" ContentType="image/png"/>
  <Override PartName="/ppt/media/image119.png" ContentType="image/png"/>
  <Override PartName="/ppt/media/image24.png" ContentType="image/png"/>
  <Override PartName="/ppt/media/image89.png" ContentType="image/png"/>
  <Override PartName="/ppt/media/image62.png" ContentType="image/png"/>
  <Override PartName="/ppt/media/image110.png" ContentType="image/png"/>
  <Override PartName="/ppt/media/image118.png" ContentType="image/png"/>
  <Override PartName="/ppt/media/image23.png" ContentType="image/png"/>
  <Override PartName="/ppt/media/image88.png" ContentType="image/png"/>
  <Override PartName="/ppt/media/image117.png" ContentType="image/png"/>
  <Override PartName="/ppt/media/image69.png" ContentType="image/png"/>
  <Override PartName="/ppt/media/image116.png" ContentType="image/png"/>
  <Override PartName="/ppt/media/image68.png" ContentType="image/png"/>
  <Override PartName="/ppt/media/image115.png" ContentType="image/png"/>
  <Override PartName="/ppt/media/image67.png" ContentType="image/png"/>
  <Override PartName="/ppt/media/image66.png" ContentType="image/png"/>
  <Override PartName="/ppt/media/image114.png" ContentType="image/png"/>
  <Override PartName="/ppt/media/image65.png" ContentType="image/png"/>
  <Override PartName="/ppt/media/image113.png" ContentType="image/png"/>
  <Override PartName="/ppt/media/image64.png" ContentType="image/png"/>
  <Override PartName="/ppt/media/image112.png" ContentType="image/png"/>
  <Override PartName="/ppt/media/image63.png" ContentType="image/png"/>
  <Override PartName="/ppt/media/image111.png" ContentType="image/png"/>
  <Override PartName="/ppt/media/image29.png" ContentType="image/png"/>
  <Override PartName="/ppt/media/image94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3556A6-C2FE-4125-B150-1F62608CB5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A1BC02-ECFC-438D-B034-6B9291E664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997C284-9DC2-4A20-8103-18A6F8B776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ECC95D4-3CAA-4A60-B4E8-F4A65D54B4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96C180E-1683-4F79-B334-09AA17B509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701F8B5-C873-4062-BE59-72D1E89825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257ADFB-3AD9-443C-82DE-764D7CB251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59048BF-BF07-48AF-8B4E-1942A8F0C3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D37F2EA-46A4-4F00-ABA1-65FF650017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9D202AC-95BB-4944-B1DD-6066AC616D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3D874FA-27F8-43C4-B394-A9B0760484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56391A-B5B9-46B2-AFCB-C9FDDBAE44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AC5C53-DDD2-48F8-A71A-8A9B7D396E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5D50CB-7640-44CA-9335-ED10FF32FA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AD610B-99B8-42D2-B929-E779813A0F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FC65A1-E500-4653-BA0F-F4009936C5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885702-EDBC-4AE0-9F15-C1CC42A9F2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F67862-227B-4C4F-901E-C7E4F3D814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5BB45C-20FC-4911-B07F-2B30D6E79D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8363B5-9E0F-400A-9470-A21BE1E7E1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3CA0DB-AE00-431A-B177-168E4320DF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88E45A-9C4B-4A0F-AB7B-A858177234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28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68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Relationship Id="rId15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2" descr="image.png"/>
          <p:cNvPicPr/>
          <p:nvPr/>
        </p:nvPicPr>
        <p:blipFill>
          <a:blip r:embed="rId2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3" descr="image.png"/>
          <p:cNvPicPr/>
          <p:nvPr/>
        </p:nvPicPr>
        <p:blipFill>
          <a:blip r:embed="rId3"/>
          <a:stretch/>
        </p:blipFill>
        <p:spPr>
          <a:xfrm>
            <a:off x="-762120" y="4286160"/>
            <a:ext cx="3333240" cy="333324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4" descr="image.png"/>
          <p:cNvPicPr/>
          <p:nvPr/>
        </p:nvPicPr>
        <p:blipFill>
          <a:blip r:embed="rId4"/>
          <a:stretch/>
        </p:blipFill>
        <p:spPr>
          <a:xfrm>
            <a:off x="533520" y="4368960"/>
            <a:ext cx="6857640" cy="618840"/>
          </a:xfrm>
          <a:prstGeom prst="rect">
            <a:avLst/>
          </a:prstGeom>
          <a:ln w="0">
            <a:noFill/>
          </a:ln>
        </p:spPr>
      </p:pic>
      <p:pic>
        <p:nvPicPr>
          <p:cNvPr id="71" name="Picture 5" descr="image.png"/>
          <p:cNvPicPr/>
          <p:nvPr/>
        </p:nvPicPr>
        <p:blipFill>
          <a:blip r:embed="rId5"/>
          <a:stretch/>
        </p:blipFill>
        <p:spPr>
          <a:xfrm>
            <a:off x="8610480" y="2008800"/>
            <a:ext cx="3047760" cy="184932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6" descr="image.png"/>
          <p:cNvPicPr/>
          <p:nvPr/>
        </p:nvPicPr>
        <p:blipFill>
          <a:blip r:embed="rId6"/>
          <a:stretch/>
        </p:blipFill>
        <p:spPr>
          <a:xfrm>
            <a:off x="8610480" y="4010760"/>
            <a:ext cx="3047760" cy="837720"/>
          </a:xfrm>
          <a:prstGeom prst="rect">
            <a:avLst/>
          </a:prstGeom>
          <a:ln w="0">
            <a:noFill/>
          </a:ln>
        </p:spPr>
      </p:pic>
      <p:sp>
        <p:nvSpPr>
          <p:cNvPr id="73" name="TextBox 7"/>
          <p:cNvSpPr/>
          <p:nvPr/>
        </p:nvSpPr>
        <p:spPr>
          <a:xfrm>
            <a:off x="533520" y="1901520"/>
            <a:ext cx="68576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Lato SemiBold"/>
              </a:rPr>
              <a:t>Track: SIH Logistics &amp; Supply Chain (Software)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33520" y="2269800"/>
            <a:ext cx="7200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4785"/>
              </a:lnSpc>
            </a:pPr>
            <a:r>
              <a:rPr b="1" lang="en-US" sz="4350" spc="-1" strike="noStrike">
                <a:solidFill>
                  <a:srgbClr val="0f172a"/>
                </a:solidFill>
                <a:latin typeface="Poppins"/>
              </a:rPr>
              <a:t>QUANTA</a:t>
            </a:r>
            <a:r>
              <a:rPr b="1" lang="en-US" sz="4350" spc="-1" strike="noStrike">
                <a:solidFill>
                  <a:srgbClr val="2563eb"/>
                </a:solidFill>
                <a:latin typeface="Poppins"/>
              </a:rPr>
              <a:t>FLEET</a:t>
            </a:r>
            <a:endParaRPr b="0" lang="en-US" sz="4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533520" y="3029760"/>
            <a:ext cx="7200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563eb"/>
                </a:solidFill>
                <a:latin typeface="Poppins Medium"/>
              </a:rPr>
              <a:t>Quantum-Inspired Fleet Routing for Smarter Logistics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33520" y="3553560"/>
            <a:ext cx="68576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475569"/>
                </a:solidFill>
                <a:latin typeface="Lato"/>
                <a:ea typeface="Noto Sans CJK SC"/>
              </a:rPr>
              <a:t>Drastically reducing fleet travel distance • Fuel consumption • Dispatch cost through advanced QUBO formulation.</a:t>
            </a:r>
            <a:br>
              <a:rPr sz="1350"/>
            </a:br>
            <a:r>
              <a:rPr b="0" lang="en-US" sz="1350" spc="-1" strike="noStrike">
                <a:solidFill>
                  <a:srgbClr val="475569"/>
                </a:solidFill>
                <a:latin typeface="Lato"/>
                <a:ea typeface="Noto Sans CJK SC"/>
              </a:rPr>
              <a:t>Experience the innovation at : </a:t>
            </a:r>
            <a:r>
              <a:rPr b="0" lang="en-US" sz="1200" spc="-1" strike="noStrike">
                <a:solidFill>
                  <a:srgbClr val="64748b"/>
                </a:solidFill>
                <a:latin typeface="Lato SemiBold"/>
              </a:rPr>
              <a:t> https://quantafleet.onrender.com/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11" descr="image.png"/>
          <p:cNvPicPr/>
          <p:nvPr/>
        </p:nvPicPr>
        <p:blipFill>
          <a:blip r:embed="rId7"/>
          <a:stretch/>
        </p:blipFill>
        <p:spPr>
          <a:xfrm>
            <a:off x="552960" y="1371600"/>
            <a:ext cx="1733040" cy="247320"/>
          </a:xfrm>
          <a:prstGeom prst="rect">
            <a:avLst/>
          </a:prstGeom>
          <a:ln w="0">
            <a:noFill/>
          </a:ln>
        </p:spPr>
      </p:pic>
      <p:sp>
        <p:nvSpPr>
          <p:cNvPr id="78" name="TextBox 12"/>
          <p:cNvSpPr/>
          <p:nvPr/>
        </p:nvSpPr>
        <p:spPr>
          <a:xfrm>
            <a:off x="762120" y="4511880"/>
            <a:ext cx="6428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64748b"/>
                </a:solidFill>
                <a:latin typeface="Lato"/>
              </a:rPr>
              <a:t>PROBLEM STATEMENT REFERENCE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762120" y="4683240"/>
            <a:ext cx="6428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f172a"/>
                </a:solidFill>
                <a:latin typeface="Lato SemiBold"/>
              </a:rPr>
              <a:t>PS ID: SIH1624 — Automated Enterprise Fleet Optimization &amp; Route Planning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8810640" y="2284920"/>
            <a:ext cx="26474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e40af"/>
                </a:solidFill>
                <a:latin typeface="Lato"/>
              </a:rPr>
              <a:t>CORE PROVEN METRIC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8810640" y="2523240"/>
            <a:ext cx="264744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464"/>
              </a:lnSpc>
            </a:pPr>
            <a:r>
              <a:rPr b="1" lang="en-US" sz="3150" spc="-1" strike="noStrike">
                <a:solidFill>
                  <a:srgbClr val="2563eb"/>
                </a:solidFill>
                <a:latin typeface="Poppins"/>
              </a:rPr>
              <a:t>11.2%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8810640" y="3020040"/>
            <a:ext cx="26474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e40af"/>
                </a:solidFill>
                <a:latin typeface="Lato SemiBold"/>
              </a:rPr>
              <a:t>MAX DISTANCE REDUCTION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8810640" y="3277440"/>
            <a:ext cx="264744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475569"/>
                </a:solidFill>
                <a:latin typeface="Lato"/>
              </a:rPr>
              <a:t>Validated against classical baselines in tested scenarios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8772480" y="4172760"/>
            <a:ext cx="27237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 SemiBold"/>
              </a:rPr>
              <a:t>TEAM CREDENTIALS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8772480" y="4353840"/>
            <a:ext cx="272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Team Q-bits 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8772480" y="4534560"/>
            <a:ext cx="2723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475569"/>
                </a:solidFill>
                <a:latin typeface="Lato"/>
              </a:rPr>
              <a:t>Logistics Software Innovation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2" descr="image.png"/>
          <p:cNvPicPr/>
          <p:nvPr/>
        </p:nvPicPr>
        <p:blipFill>
          <a:blip r:embed="rId2"/>
          <a:stretch/>
        </p:blipFill>
        <p:spPr>
          <a:xfrm>
            <a:off x="6229440" y="1523880"/>
            <a:ext cx="5428800" cy="353340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3" descr="image.png"/>
          <p:cNvPicPr/>
          <p:nvPr/>
        </p:nvPicPr>
        <p:blipFill>
          <a:blip r:embed="rId3"/>
          <a:stretch/>
        </p:blipFill>
        <p:spPr>
          <a:xfrm>
            <a:off x="533520" y="1523880"/>
            <a:ext cx="5428800" cy="1085400"/>
          </a:xfrm>
          <a:prstGeom prst="rect">
            <a:avLst/>
          </a:prstGeom>
          <a:ln w="0">
            <a:noFill/>
          </a:ln>
        </p:spPr>
      </p:pic>
      <p:pic>
        <p:nvPicPr>
          <p:cNvPr id="90" name="Picture 4" descr="image.png"/>
          <p:cNvPicPr/>
          <p:nvPr/>
        </p:nvPicPr>
        <p:blipFill>
          <a:blip r:embed="rId4"/>
          <a:stretch/>
        </p:blipFill>
        <p:spPr>
          <a:xfrm>
            <a:off x="533520" y="2743200"/>
            <a:ext cx="5428800" cy="108540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5" descr="image.png"/>
          <p:cNvPicPr/>
          <p:nvPr/>
        </p:nvPicPr>
        <p:blipFill>
          <a:blip r:embed="rId5"/>
          <a:stretch/>
        </p:blipFill>
        <p:spPr>
          <a:xfrm>
            <a:off x="533520" y="3962520"/>
            <a:ext cx="5428800" cy="109512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6" descr="image.png"/>
          <p:cNvPicPr/>
          <p:nvPr/>
        </p:nvPicPr>
        <p:blipFill>
          <a:blip r:embed="rId6"/>
          <a:stretch/>
        </p:blipFill>
        <p:spPr>
          <a:xfrm>
            <a:off x="6429240" y="2328840"/>
            <a:ext cx="5028840" cy="119988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7" descr="image.png"/>
          <p:cNvPicPr/>
          <p:nvPr/>
        </p:nvPicPr>
        <p:blipFill>
          <a:blip r:embed="rId7"/>
          <a:stretch/>
        </p:blipFill>
        <p:spPr>
          <a:xfrm>
            <a:off x="6429240" y="3719520"/>
            <a:ext cx="5028840" cy="105696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8" descr="image.png"/>
          <p:cNvPicPr/>
          <p:nvPr/>
        </p:nvPicPr>
        <p:blipFill>
          <a:blip r:embed="rId8"/>
          <a:stretch/>
        </p:blipFill>
        <p:spPr>
          <a:xfrm>
            <a:off x="6591240" y="2700360"/>
            <a:ext cx="4704840" cy="44748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9" descr="image.png"/>
          <p:cNvPicPr/>
          <p:nvPr/>
        </p:nvPicPr>
        <p:blipFill>
          <a:blip r:embed="rId9"/>
          <a:stretch/>
        </p:blipFill>
        <p:spPr>
          <a:xfrm>
            <a:off x="6591240" y="4091040"/>
            <a:ext cx="4704840" cy="30456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10" descr="image.png"/>
          <p:cNvPicPr/>
          <p:nvPr/>
        </p:nvPicPr>
        <p:blipFill>
          <a:blip r:embed="rId10"/>
          <a:stretch/>
        </p:blipFill>
        <p:spPr>
          <a:xfrm>
            <a:off x="10463040" y="509760"/>
            <a:ext cx="1195200" cy="285480"/>
          </a:xfrm>
          <a:prstGeom prst="rect">
            <a:avLst/>
          </a:prstGeom>
          <a:ln w="0">
            <a:noFill/>
          </a:ln>
        </p:spPr>
      </p:pic>
      <p:sp>
        <p:nvSpPr>
          <p:cNvPr id="97" name="TextBox 11"/>
          <p:cNvSpPr/>
          <p:nvPr/>
        </p:nvSpPr>
        <p:spPr>
          <a:xfrm>
            <a:off x="533520" y="1076400"/>
            <a:ext cx="7743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Main Question: Why is enterprise fleet routing still severely inefficient despite current software tools?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6429240" y="1805040"/>
            <a:ext cx="5028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Routing Mechanic Comparison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13"/>
          <p:cNvSpPr/>
          <p:nvPr/>
        </p:nvSpPr>
        <p:spPr>
          <a:xfrm>
            <a:off x="6429240" y="2119320"/>
            <a:ext cx="5028840" cy="187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990720" y="1725480"/>
            <a:ext cx="47718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dc2626"/>
                </a:solidFill>
                <a:latin typeface="Lato SemiBold"/>
              </a:rPr>
              <a:t>Combinatorial Explosion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762120" y="2009880"/>
            <a:ext cx="50004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As delivery stops and vehicles scale, candidate route permutations grow exponentially, overwhelming traditional algorithmic software tools.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1028880" y="2944800"/>
            <a:ext cx="4733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dc2626"/>
                </a:solidFill>
                <a:latin typeface="Lato SemiBold"/>
              </a:rPr>
              <a:t>Local Rules Trapped in Bad Routes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762120" y="3228840"/>
            <a:ext cx="50004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Greedy "nearest-neighbor" heuristics pick close stops first, trapping trucks down dead ends or coastal corridors—forcing 25km+ backtracks.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1047600" y="4168440"/>
            <a:ext cx="47145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dc2626"/>
                </a:solidFill>
                <a:latin typeface="Lato SemiBold"/>
              </a:rPr>
              <a:t>Real Roads ≠ Straight Lines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762120" y="4457880"/>
            <a:ext cx="50004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Naive routing ignores true network topology—such as one-way street constraints, bridge bottlenecks, and turn restrictions.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6591240" y="2490840"/>
            <a:ext cx="4704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384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dc2626"/>
                </a:solidFill>
                <a:latin typeface="Lato"/>
              </a:rPr>
              <a:t>GREEDY ROUTING (Classical Standard)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6591240" y="3224160"/>
            <a:ext cx="470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High mileage • Wasted fuel • Myopic local choices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6591240" y="3881520"/>
            <a:ext cx="4704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384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059669"/>
                </a:solidFill>
                <a:latin typeface="Lato"/>
              </a:rPr>
              <a:t>QUANTAFLEET (Quantum-Inspired)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3"/>
          <p:cNvSpPr/>
          <p:nvPr/>
        </p:nvSpPr>
        <p:spPr>
          <a:xfrm>
            <a:off x="6591240" y="4471920"/>
            <a:ext cx="470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Global energy minimum • Zero backtrack • Topology aware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24" descr="image.png"/>
          <p:cNvPicPr/>
          <p:nvPr/>
        </p:nvPicPr>
        <p:blipFill>
          <a:blip r:embed="rId11"/>
          <a:stretch/>
        </p:blipFill>
        <p:spPr>
          <a:xfrm>
            <a:off x="762120" y="1743120"/>
            <a:ext cx="132840" cy="17100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25" descr="image.png"/>
          <p:cNvPicPr/>
          <p:nvPr/>
        </p:nvPicPr>
        <p:blipFill>
          <a:blip r:embed="rId12"/>
          <a:stretch/>
        </p:blipFill>
        <p:spPr>
          <a:xfrm>
            <a:off x="762120" y="296244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112" name="Picture 26" descr="image.png"/>
          <p:cNvPicPr/>
          <p:nvPr/>
        </p:nvPicPr>
        <p:blipFill>
          <a:blip r:embed="rId13"/>
          <a:stretch/>
        </p:blipFill>
        <p:spPr>
          <a:xfrm>
            <a:off x="762120" y="4186080"/>
            <a:ext cx="190080" cy="17100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27" descr="image.png"/>
          <p:cNvPicPr/>
          <p:nvPr/>
        </p:nvPicPr>
        <p:blipFill>
          <a:blip r:embed="rId14"/>
          <a:stretch/>
        </p:blipFill>
        <p:spPr>
          <a:xfrm>
            <a:off x="6591240" y="2509920"/>
            <a:ext cx="123480" cy="12348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28" descr="image.png"/>
          <p:cNvPicPr/>
          <p:nvPr/>
        </p:nvPicPr>
        <p:blipFill>
          <a:blip r:embed="rId15"/>
          <a:stretch/>
        </p:blipFill>
        <p:spPr>
          <a:xfrm>
            <a:off x="6591240" y="3900600"/>
            <a:ext cx="123480" cy="123480"/>
          </a:xfrm>
          <a:prstGeom prst="rect">
            <a:avLst/>
          </a:prstGeom>
          <a:ln w="0">
            <a:noFill/>
          </a:ln>
        </p:spPr>
      </p:pic>
      <p:sp>
        <p:nvSpPr>
          <p:cNvPr id="115" name="TextBox 29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Why Enterprise Fleet Routing Fails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11124720" cy="54252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3" descr="image.png"/>
          <p:cNvPicPr/>
          <p:nvPr/>
        </p:nvPicPr>
        <p:blipFill>
          <a:blip r:embed="rId3"/>
          <a:stretch/>
        </p:blipFill>
        <p:spPr>
          <a:xfrm>
            <a:off x="533520" y="1847880"/>
            <a:ext cx="5466960" cy="111420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4" descr="image.png"/>
          <p:cNvPicPr/>
          <p:nvPr/>
        </p:nvPicPr>
        <p:blipFill>
          <a:blip r:embed="rId4"/>
          <a:stretch/>
        </p:blipFill>
        <p:spPr>
          <a:xfrm>
            <a:off x="6191280" y="1847880"/>
            <a:ext cx="5466960" cy="111420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5" descr="image.png"/>
          <p:cNvPicPr/>
          <p:nvPr/>
        </p:nvPicPr>
        <p:blipFill>
          <a:blip r:embed="rId5"/>
          <a:stretch/>
        </p:blipFill>
        <p:spPr>
          <a:xfrm>
            <a:off x="533520" y="3152880"/>
            <a:ext cx="5466960" cy="111420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6" descr="image.png"/>
          <p:cNvPicPr/>
          <p:nvPr/>
        </p:nvPicPr>
        <p:blipFill>
          <a:blip r:embed="rId6"/>
          <a:stretch/>
        </p:blipFill>
        <p:spPr>
          <a:xfrm>
            <a:off x="6191280" y="3152880"/>
            <a:ext cx="5466960" cy="111420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7" descr="image.png"/>
          <p:cNvPicPr/>
          <p:nvPr/>
        </p:nvPicPr>
        <p:blipFill>
          <a:blip r:embed="rId7"/>
          <a:stretch/>
        </p:blipFill>
        <p:spPr>
          <a:xfrm>
            <a:off x="9672480" y="509760"/>
            <a:ext cx="1985760" cy="285480"/>
          </a:xfrm>
          <a:prstGeom prst="rect">
            <a:avLst/>
          </a:prstGeom>
          <a:ln w="0">
            <a:noFill/>
          </a:ln>
        </p:spPr>
      </p:pic>
      <p:sp>
        <p:nvSpPr>
          <p:cNvPr id="123" name="TextBox 8"/>
          <p:cNvSpPr/>
          <p:nvPr/>
        </p:nvSpPr>
        <p:spPr>
          <a:xfrm>
            <a:off x="1085760" y="1261800"/>
            <a:ext cx="7902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Poppins SemiBold"/>
              </a:rPr>
              <a:t>Fleet Data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2969280" y="1261800"/>
            <a:ext cx="1504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Poppins SemiBold"/>
              </a:rPr>
              <a:t>OSMNX Road Graph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5595840" y="1261800"/>
            <a:ext cx="136188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Poppins SemiBold"/>
              </a:rPr>
              <a:t>Constraint Engine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8031960" y="1261800"/>
            <a:ext cx="94248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2563eb"/>
                </a:solidFill>
                <a:latin typeface="Poppins SemiBold"/>
              </a:rPr>
              <a:t>QUBO Solver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10049040" y="1261800"/>
            <a:ext cx="13712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59669"/>
                </a:solidFill>
                <a:latin typeface="Poppins SemiBold"/>
              </a:rPr>
              <a:t>Optimized Routes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13" descr="image.png"/>
          <p:cNvPicPr/>
          <p:nvPr/>
        </p:nvPicPr>
        <p:blipFill>
          <a:blip r:embed="rId8"/>
          <a:stretch/>
        </p:blipFill>
        <p:spPr>
          <a:xfrm>
            <a:off x="771480" y="1262160"/>
            <a:ext cx="218880" cy="17100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14" descr="image.png"/>
          <p:cNvPicPr/>
          <p:nvPr/>
        </p:nvPicPr>
        <p:blipFill>
          <a:blip r:embed="rId9"/>
          <a:stretch/>
        </p:blipFill>
        <p:spPr>
          <a:xfrm>
            <a:off x="2232360" y="1276200"/>
            <a:ext cx="95040" cy="15192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5" descr="image.png"/>
          <p:cNvPicPr/>
          <p:nvPr/>
        </p:nvPicPr>
        <p:blipFill>
          <a:blip r:embed="rId10"/>
          <a:stretch/>
        </p:blipFill>
        <p:spPr>
          <a:xfrm>
            <a:off x="2683800" y="1262160"/>
            <a:ext cx="190080" cy="17100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16" descr="image.png"/>
          <p:cNvPicPr/>
          <p:nvPr/>
        </p:nvPicPr>
        <p:blipFill>
          <a:blip r:embed="rId11"/>
          <a:stretch/>
        </p:blipFill>
        <p:spPr>
          <a:xfrm>
            <a:off x="4830480" y="1276200"/>
            <a:ext cx="95040" cy="15192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7" descr="image.png"/>
          <p:cNvPicPr/>
          <p:nvPr/>
        </p:nvPicPr>
        <p:blipFill>
          <a:blip r:embed="rId12"/>
          <a:stretch/>
        </p:blipFill>
        <p:spPr>
          <a:xfrm>
            <a:off x="5281560" y="1262160"/>
            <a:ext cx="218880" cy="17100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18" descr="image.png"/>
          <p:cNvPicPr/>
          <p:nvPr/>
        </p:nvPicPr>
        <p:blipFill>
          <a:blip r:embed="rId13"/>
          <a:stretch/>
        </p:blipFill>
        <p:spPr>
          <a:xfrm>
            <a:off x="7314120" y="1276200"/>
            <a:ext cx="95040" cy="1519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19" descr="image.png"/>
          <p:cNvPicPr/>
          <p:nvPr/>
        </p:nvPicPr>
        <p:blipFill>
          <a:blip r:embed="rId14"/>
          <a:stretch/>
        </p:blipFill>
        <p:spPr>
          <a:xfrm>
            <a:off x="7765200" y="126216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20" descr="image.png"/>
          <p:cNvPicPr/>
          <p:nvPr/>
        </p:nvPicPr>
        <p:blipFill>
          <a:blip r:embed="rId15"/>
          <a:stretch/>
        </p:blipFill>
        <p:spPr>
          <a:xfrm>
            <a:off x="9330840" y="1276200"/>
            <a:ext cx="95040" cy="15192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21" descr="image.png"/>
          <p:cNvPicPr/>
          <p:nvPr/>
        </p:nvPicPr>
        <p:blipFill>
          <a:blip r:embed="rId16"/>
          <a:stretch/>
        </p:blipFill>
        <p:spPr>
          <a:xfrm>
            <a:off x="9782280" y="126216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37" name="TextBox 22"/>
          <p:cNvSpPr/>
          <p:nvPr/>
        </p:nvSpPr>
        <p:spPr>
          <a:xfrm>
            <a:off x="1019160" y="2077920"/>
            <a:ext cx="4781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1. Real Road Geometry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3"/>
          <p:cNvSpPr/>
          <p:nvPr/>
        </p:nvSpPr>
        <p:spPr>
          <a:xfrm>
            <a:off x="733320" y="2362320"/>
            <a:ext cx="50670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Integrates full OSMNX real-world road graph geometry instead of Euclidean straight lines, ensuring exact road distance matrices.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4"/>
          <p:cNvSpPr/>
          <p:nvPr/>
        </p:nvSpPr>
        <p:spPr>
          <a:xfrm>
            <a:off x="6705720" y="2077920"/>
            <a:ext cx="47527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2. Multiple Vehicle CVRP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5"/>
          <p:cNvSpPr/>
          <p:nvPr/>
        </p:nvSpPr>
        <p:spPr>
          <a:xfrm>
            <a:off x="6391440" y="2362320"/>
            <a:ext cx="50670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Full Capacity-Constrained Vehicle Routing Problem (CVRP) execution to manage vehicle limits, stop priorities, and depot constraints.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6"/>
          <p:cNvSpPr/>
          <p:nvPr/>
        </p:nvSpPr>
        <p:spPr>
          <a:xfrm>
            <a:off x="1000080" y="3382920"/>
            <a:ext cx="48002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3. Global QUBO Optimization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7"/>
          <p:cNvSpPr/>
          <p:nvPr/>
        </p:nvSpPr>
        <p:spPr>
          <a:xfrm>
            <a:off x="733320" y="3666960"/>
            <a:ext cx="50670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QUBO-based mathematical search exploring global combination spaces simultaneously to completely bypass local myopic traps.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8"/>
          <p:cNvSpPr/>
          <p:nvPr/>
        </p:nvSpPr>
        <p:spPr>
          <a:xfrm>
            <a:off x="6591240" y="3382920"/>
            <a:ext cx="4866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4. Explainable Dispatch Output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9"/>
          <p:cNvSpPr/>
          <p:nvPr/>
        </p:nvSpPr>
        <p:spPr>
          <a:xfrm>
            <a:off x="6391440" y="3666960"/>
            <a:ext cx="50670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Interactive route polylines with turn-by-turn sequence badges (①, ②, ③…) and clear export metrics for dispatchers.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30" descr="image.png"/>
          <p:cNvPicPr/>
          <p:nvPr/>
        </p:nvPicPr>
        <p:blipFill>
          <a:blip r:embed="rId17"/>
          <a:stretch/>
        </p:blipFill>
        <p:spPr>
          <a:xfrm>
            <a:off x="733320" y="2095560"/>
            <a:ext cx="190080" cy="17100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31" descr="image.png"/>
          <p:cNvPicPr/>
          <p:nvPr/>
        </p:nvPicPr>
        <p:blipFill>
          <a:blip r:embed="rId18"/>
          <a:stretch/>
        </p:blipFill>
        <p:spPr>
          <a:xfrm>
            <a:off x="6391440" y="2095560"/>
            <a:ext cx="218880" cy="17100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32" descr="image.png"/>
          <p:cNvPicPr/>
          <p:nvPr/>
        </p:nvPicPr>
        <p:blipFill>
          <a:blip r:embed="rId19"/>
          <a:stretch/>
        </p:blipFill>
        <p:spPr>
          <a:xfrm>
            <a:off x="733320" y="340056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33" descr="image.png"/>
          <p:cNvPicPr/>
          <p:nvPr/>
        </p:nvPicPr>
        <p:blipFill>
          <a:blip r:embed="rId20"/>
          <a:stretch/>
        </p:blipFill>
        <p:spPr>
          <a:xfrm>
            <a:off x="6391440" y="3400560"/>
            <a:ext cx="104400" cy="171000"/>
          </a:xfrm>
          <a:prstGeom prst="rect">
            <a:avLst/>
          </a:prstGeom>
          <a:ln w="0">
            <a:noFill/>
          </a:ln>
        </p:spPr>
      </p:pic>
      <p:sp>
        <p:nvSpPr>
          <p:cNvPr id="149" name="TextBox 34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Our Solution: QuantaFleet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11124720" cy="742680"/>
          </a:xfrm>
          <a:prstGeom prst="rect">
            <a:avLst/>
          </a:prstGeom>
          <a:ln w="0">
            <a:noFill/>
          </a:ln>
        </p:spPr>
      </p:pic>
      <p:pic>
        <p:nvPicPr>
          <p:cNvPr id="152" name="Picture 3" descr="image.png"/>
          <p:cNvPicPr/>
          <p:nvPr/>
        </p:nvPicPr>
        <p:blipFill>
          <a:blip r:embed="rId3"/>
          <a:stretch/>
        </p:blipFill>
        <p:spPr>
          <a:xfrm>
            <a:off x="533520" y="1952640"/>
            <a:ext cx="11124720" cy="74268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4" descr="image.png"/>
          <p:cNvPicPr/>
          <p:nvPr/>
        </p:nvPicPr>
        <p:blipFill>
          <a:blip r:embed="rId4"/>
          <a:stretch/>
        </p:blipFill>
        <p:spPr>
          <a:xfrm>
            <a:off x="533520" y="2828880"/>
            <a:ext cx="11124720" cy="74268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5" descr="image.png"/>
          <p:cNvPicPr/>
          <p:nvPr/>
        </p:nvPicPr>
        <p:blipFill>
          <a:blip r:embed="rId5"/>
          <a:stretch/>
        </p:blipFill>
        <p:spPr>
          <a:xfrm>
            <a:off x="533520" y="3705120"/>
            <a:ext cx="11124720" cy="74268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6" descr="image.png"/>
          <p:cNvPicPr/>
          <p:nvPr/>
        </p:nvPicPr>
        <p:blipFill>
          <a:blip r:embed="rId6"/>
          <a:stretch/>
        </p:blipFill>
        <p:spPr>
          <a:xfrm>
            <a:off x="10310760" y="509760"/>
            <a:ext cx="1347480" cy="285480"/>
          </a:xfrm>
          <a:prstGeom prst="rect">
            <a:avLst/>
          </a:prstGeom>
          <a:ln w="0">
            <a:noFill/>
          </a:ln>
        </p:spPr>
      </p:pic>
      <p:sp>
        <p:nvSpPr>
          <p:cNvPr id="156" name="TextBox 7"/>
          <p:cNvSpPr/>
          <p:nvPr/>
        </p:nvSpPr>
        <p:spPr>
          <a:xfrm>
            <a:off x="819000" y="1238400"/>
            <a:ext cx="2095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eb"/>
                </a:solidFill>
                <a:latin typeface="Lato"/>
              </a:rPr>
              <a:t>STAGE 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819000" y="2114640"/>
            <a:ext cx="2095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284c7"/>
                </a:solidFill>
                <a:latin typeface="Lato"/>
              </a:rPr>
              <a:t>STAGE 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819000" y="2990880"/>
            <a:ext cx="2095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59669"/>
                </a:solidFill>
                <a:latin typeface="Lato"/>
              </a:rPr>
              <a:t>STAGE 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819000" y="3867120"/>
            <a:ext cx="2095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7c3aed"/>
                </a:solidFill>
                <a:latin typeface="Lato"/>
              </a:rPr>
              <a:t>STAGE 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819000" y="1419120"/>
            <a:ext cx="21999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Input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3105000" y="1257480"/>
            <a:ext cx="7867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User / Fleet Operator Interface $\longrightarrow$ React + Leaflet Web UI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3105000" y="1495440"/>
            <a:ext cx="3790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Allows stop placement, depot config, capacity specs, &amp; vehicle count settings.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Picture 14" descr="image.png"/>
          <p:cNvPicPr/>
          <p:nvPr/>
        </p:nvPicPr>
        <p:blipFill>
          <a:blip r:embed="rId7"/>
          <a:stretch/>
        </p:blipFill>
        <p:spPr>
          <a:xfrm>
            <a:off x="11163240" y="1333440"/>
            <a:ext cx="256680" cy="228240"/>
          </a:xfrm>
          <a:prstGeom prst="rect">
            <a:avLst/>
          </a:prstGeom>
          <a:ln w="0">
            <a:noFill/>
          </a:ln>
        </p:spPr>
      </p:pic>
      <p:sp>
        <p:nvSpPr>
          <p:cNvPr id="164" name="TextBox 15"/>
          <p:cNvSpPr/>
          <p:nvPr/>
        </p:nvSpPr>
        <p:spPr>
          <a:xfrm>
            <a:off x="819000" y="2295360"/>
            <a:ext cx="21999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Processing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3105000" y="2133720"/>
            <a:ext cx="7895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FastAPI REST Service $\longrightarrow$ Scenario &amp; OSMNX Road Graph Mapper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3105000" y="2371680"/>
            <a:ext cx="380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Extracts real shortest paths, distance matrices, and network edge constraints.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18" descr="image.png"/>
          <p:cNvPicPr/>
          <p:nvPr/>
        </p:nvPicPr>
        <p:blipFill>
          <a:blip r:embed="rId8"/>
          <a:stretch/>
        </p:blipFill>
        <p:spPr>
          <a:xfrm>
            <a:off x="11192040" y="220968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68" name="TextBox 19"/>
          <p:cNvSpPr/>
          <p:nvPr/>
        </p:nvSpPr>
        <p:spPr>
          <a:xfrm>
            <a:off x="819000" y="3171960"/>
            <a:ext cx="21999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Optimization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3105000" y="3009960"/>
            <a:ext cx="7895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0f172a"/>
                </a:solidFill>
                <a:latin typeface="Lato SemiBold"/>
              </a:rPr>
              <a:t>CVRP Constraint Formulation $\longrightarrow$ QUBO Optimization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3105000" y="3247920"/>
            <a:ext cx="4571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47857"/>
                </a:solidFill>
                <a:latin typeface="Lato"/>
              </a:rPr>
              <a:t>Translates business constraints into Quadratic Unconstrained Binary Optimization matrices.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Picture 22" descr="image.png"/>
          <p:cNvPicPr/>
          <p:nvPr/>
        </p:nvPicPr>
        <p:blipFill>
          <a:blip r:embed="rId9"/>
          <a:stretch/>
        </p:blipFill>
        <p:spPr>
          <a:xfrm>
            <a:off x="11192040" y="308628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72" name="TextBox 23"/>
          <p:cNvSpPr/>
          <p:nvPr/>
        </p:nvSpPr>
        <p:spPr>
          <a:xfrm>
            <a:off x="819000" y="4048200"/>
            <a:ext cx="21999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Output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3105000" y="3886200"/>
            <a:ext cx="7895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Optimized Polyline Routes $\longrightarrow$ Dashboard Map + Export Metrics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25"/>
          <p:cNvSpPr/>
          <p:nvPr/>
        </p:nvSpPr>
        <p:spPr>
          <a:xfrm>
            <a:off x="3105000" y="4124160"/>
            <a:ext cx="40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Provides turn-by-turn sequence badges, driver route exports, &amp; distance analytics.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Picture 26" descr="image.png"/>
          <p:cNvPicPr/>
          <p:nvPr/>
        </p:nvPicPr>
        <p:blipFill>
          <a:blip r:embed="rId10"/>
          <a:stretch/>
        </p:blipFill>
        <p:spPr>
          <a:xfrm>
            <a:off x="11192040" y="39625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76" name="TextBox 27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System Architecture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5992560" cy="151416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3" descr="image.png"/>
          <p:cNvPicPr/>
          <p:nvPr/>
        </p:nvPicPr>
        <p:blipFill>
          <a:blip r:embed="rId3"/>
          <a:stretch/>
        </p:blipFill>
        <p:spPr>
          <a:xfrm>
            <a:off x="533520" y="2724120"/>
            <a:ext cx="5992560" cy="178092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4" descr="image.png"/>
          <p:cNvPicPr/>
          <p:nvPr/>
        </p:nvPicPr>
        <p:blipFill>
          <a:blip r:embed="rId4"/>
          <a:stretch/>
        </p:blipFill>
        <p:spPr>
          <a:xfrm>
            <a:off x="6878880" y="5191200"/>
            <a:ext cx="4655520" cy="33300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5" descr="image.png"/>
          <p:cNvPicPr/>
          <p:nvPr/>
        </p:nvPicPr>
        <p:blipFill>
          <a:blip r:embed="rId5"/>
          <a:stretch/>
        </p:blipFill>
        <p:spPr>
          <a:xfrm>
            <a:off x="743040" y="3876840"/>
            <a:ext cx="5573520" cy="41868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6" descr="image.png"/>
          <p:cNvPicPr/>
          <p:nvPr/>
        </p:nvPicPr>
        <p:blipFill>
          <a:blip r:embed="rId6"/>
          <a:stretch/>
        </p:blipFill>
        <p:spPr>
          <a:xfrm>
            <a:off x="743040" y="3200400"/>
            <a:ext cx="2729520" cy="561600"/>
          </a:xfrm>
          <a:prstGeom prst="rect">
            <a:avLst/>
          </a:prstGeom>
          <a:ln w="0">
            <a:noFill/>
          </a:ln>
        </p:spPr>
      </p:pic>
      <p:pic>
        <p:nvPicPr>
          <p:cNvPr id="183" name="Picture 7" descr="image.png"/>
          <p:cNvPicPr/>
          <p:nvPr/>
        </p:nvPicPr>
        <p:blipFill>
          <a:blip r:embed="rId7"/>
          <a:stretch/>
        </p:blipFill>
        <p:spPr>
          <a:xfrm>
            <a:off x="3587040" y="3200400"/>
            <a:ext cx="2729520" cy="561600"/>
          </a:xfrm>
          <a:prstGeom prst="rect">
            <a:avLst/>
          </a:prstGeom>
          <a:ln w="0">
            <a:noFill/>
          </a:ln>
        </p:spPr>
      </p:pic>
      <p:pic>
        <p:nvPicPr>
          <p:cNvPr id="184" name="Picture 8" descr="image.png"/>
          <p:cNvPicPr/>
          <p:nvPr/>
        </p:nvPicPr>
        <p:blipFill>
          <a:blip r:embed="rId8"/>
          <a:stretch/>
        </p:blipFill>
        <p:spPr>
          <a:xfrm>
            <a:off x="10639440" y="509760"/>
            <a:ext cx="1018800" cy="28548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9" descr="image.png"/>
          <p:cNvPicPr/>
          <p:nvPr/>
        </p:nvPicPr>
        <p:blipFill>
          <a:blip r:embed="rId9"/>
          <a:stretch/>
        </p:blipFill>
        <p:spPr>
          <a:xfrm>
            <a:off x="6764400" y="1085760"/>
            <a:ext cx="4884120" cy="4552560"/>
          </a:xfrm>
          <a:prstGeom prst="rect">
            <a:avLst/>
          </a:prstGeom>
          <a:ln w="0">
            <a:noFill/>
          </a:ln>
        </p:spPr>
      </p:pic>
      <p:sp>
        <p:nvSpPr>
          <p:cNvPr id="186" name="TextBox 10"/>
          <p:cNvSpPr/>
          <p:nvPr/>
        </p:nvSpPr>
        <p:spPr>
          <a:xfrm>
            <a:off x="695160" y="1238400"/>
            <a:ext cx="5668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563eb"/>
                </a:solidFill>
                <a:latin typeface="Lato"/>
              </a:rPr>
              <a:t>SCENARIO SPECS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743040" y="2933640"/>
            <a:ext cx="5573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047857"/>
                </a:solidFill>
                <a:latin typeface="Lato"/>
              </a:rPr>
              <a:t>MEASURED HACKATHON BASE SCENARIO RESULT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12" descr="image.png"/>
          <p:cNvPicPr/>
          <p:nvPr/>
        </p:nvPicPr>
        <p:blipFill>
          <a:blip r:embed="rId10"/>
          <a:stretch/>
        </p:blipFill>
        <p:spPr>
          <a:xfrm>
            <a:off x="7012080" y="5305320"/>
            <a:ext cx="132840" cy="11412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13" descr="image.png"/>
          <p:cNvPicPr/>
          <p:nvPr/>
        </p:nvPicPr>
        <p:blipFill>
          <a:blip r:embed="rId11"/>
          <a:stretch/>
        </p:blipFill>
        <p:spPr>
          <a:xfrm>
            <a:off x="695160" y="125748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190" name="TextBox 14"/>
          <p:cNvSpPr/>
          <p:nvPr/>
        </p:nvSpPr>
        <p:spPr>
          <a:xfrm>
            <a:off x="781200" y="1457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866880" y="1457280"/>
            <a:ext cx="549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INPUT:</a:t>
            </a: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 80 Delivery Points • 10 Vehicles • Strict Capacity Limits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6"/>
          <p:cNvSpPr/>
          <p:nvPr/>
        </p:nvSpPr>
        <p:spPr>
          <a:xfrm>
            <a:off x="781200" y="1781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17"/>
          <p:cNvSpPr/>
          <p:nvPr/>
        </p:nvSpPr>
        <p:spPr>
          <a:xfrm>
            <a:off x="866880" y="1781280"/>
            <a:ext cx="549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ENGINE:</a:t>
            </a: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 OSMNX Road Network • QUBO Matrix • 400 Annealing Reads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781200" y="210492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9"/>
          <p:cNvSpPr/>
          <p:nvPr/>
        </p:nvSpPr>
        <p:spPr>
          <a:xfrm>
            <a:off x="866880" y="2104920"/>
            <a:ext cx="549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OUTPUT:</a:t>
            </a: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 Interactive Polyline • Load Distribution • Export Dispatch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Picture 20" descr="image.png"/>
          <p:cNvPicPr/>
          <p:nvPr/>
        </p:nvPicPr>
        <p:blipFill>
          <a:blip r:embed="rId12"/>
          <a:stretch/>
        </p:blipFill>
        <p:spPr>
          <a:xfrm>
            <a:off x="743040" y="2952720"/>
            <a:ext cx="95040" cy="123480"/>
          </a:xfrm>
          <a:prstGeom prst="rect">
            <a:avLst/>
          </a:prstGeom>
          <a:ln w="0">
            <a:noFill/>
          </a:ln>
        </p:spPr>
      </p:pic>
      <p:sp>
        <p:nvSpPr>
          <p:cNvPr id="197" name="TextBox 21"/>
          <p:cNvSpPr/>
          <p:nvPr/>
        </p:nvSpPr>
        <p:spPr>
          <a:xfrm>
            <a:off x="905040" y="4005360"/>
            <a:ext cx="118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f172a"/>
                </a:solidFill>
                <a:latin typeface="Lato"/>
              </a:rPr>
              <a:t>Net Distance Saved: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22"/>
          <p:cNvSpPr/>
          <p:nvPr/>
        </p:nvSpPr>
        <p:spPr>
          <a:xfrm>
            <a:off x="4164120" y="3981600"/>
            <a:ext cx="1990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59669"/>
                </a:solidFill>
                <a:latin typeface="Lato"/>
              </a:rPr>
              <a:t>18.06 km (6.8% Reduction)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847800" y="3305160"/>
            <a:ext cx="252000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20" spc="-1" strike="noStrike">
                <a:solidFill>
                  <a:srgbClr val="64748b"/>
                </a:solidFill>
                <a:latin typeface="Lato"/>
              </a:rPr>
              <a:t>Classical Baseline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24"/>
          <p:cNvSpPr/>
          <p:nvPr/>
        </p:nvSpPr>
        <p:spPr>
          <a:xfrm>
            <a:off x="847800" y="3429000"/>
            <a:ext cx="252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dc2626"/>
                </a:solidFill>
                <a:latin typeface="Lato"/>
              </a:rPr>
              <a:t>267.25 km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25"/>
          <p:cNvSpPr/>
          <p:nvPr/>
        </p:nvSpPr>
        <p:spPr>
          <a:xfrm>
            <a:off x="3691800" y="3305160"/>
            <a:ext cx="252000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20" spc="-1" strike="noStrike">
                <a:solidFill>
                  <a:srgbClr val="64748b"/>
                </a:solidFill>
                <a:latin typeface="Lato"/>
              </a:rPr>
              <a:t>QuantaFleet Output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6"/>
          <p:cNvSpPr/>
          <p:nvPr/>
        </p:nvSpPr>
        <p:spPr>
          <a:xfrm>
            <a:off x="3691800" y="3429000"/>
            <a:ext cx="252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59669"/>
                </a:solidFill>
                <a:latin typeface="Lato"/>
              </a:rPr>
              <a:t>249.19 km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27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Live Prototype &amp; Measured Results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05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11124720" cy="54252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3" descr="image.png"/>
          <p:cNvPicPr/>
          <p:nvPr/>
        </p:nvPicPr>
        <p:blipFill>
          <a:blip r:embed="rId3"/>
          <a:stretch/>
        </p:blipFill>
        <p:spPr>
          <a:xfrm>
            <a:off x="533520" y="1924200"/>
            <a:ext cx="11124720" cy="614160"/>
          </a:xfrm>
          <a:prstGeom prst="rect">
            <a:avLst/>
          </a:prstGeom>
          <a:ln w="0">
            <a:noFill/>
          </a:ln>
        </p:spPr>
      </p:pic>
      <p:pic>
        <p:nvPicPr>
          <p:cNvPr id="207" name="Picture 4" descr="image.png"/>
          <p:cNvPicPr/>
          <p:nvPr/>
        </p:nvPicPr>
        <p:blipFill>
          <a:blip r:embed="rId4"/>
          <a:stretch/>
        </p:blipFill>
        <p:spPr>
          <a:xfrm>
            <a:off x="533520" y="4576680"/>
            <a:ext cx="11124720" cy="55224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5" descr="image.png"/>
          <p:cNvPicPr/>
          <p:nvPr/>
        </p:nvPicPr>
        <p:blipFill>
          <a:blip r:embed="rId5"/>
          <a:stretch/>
        </p:blipFill>
        <p:spPr>
          <a:xfrm>
            <a:off x="533520" y="2786040"/>
            <a:ext cx="5466960" cy="165708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6" descr="image.png"/>
          <p:cNvPicPr/>
          <p:nvPr/>
        </p:nvPicPr>
        <p:blipFill>
          <a:blip r:embed="rId6"/>
          <a:stretch/>
        </p:blipFill>
        <p:spPr>
          <a:xfrm>
            <a:off x="6191280" y="2786040"/>
            <a:ext cx="5466960" cy="1657080"/>
          </a:xfrm>
          <a:prstGeom prst="rect">
            <a:avLst/>
          </a:prstGeom>
          <a:ln w="0">
            <a:noFill/>
          </a:ln>
        </p:spPr>
      </p:pic>
      <p:pic>
        <p:nvPicPr>
          <p:cNvPr id="210" name="Picture 7" descr="image.png"/>
          <p:cNvPicPr/>
          <p:nvPr/>
        </p:nvPicPr>
        <p:blipFill>
          <a:blip r:embed="rId7"/>
          <a:stretch/>
        </p:blipFill>
        <p:spPr>
          <a:xfrm>
            <a:off x="9987120" y="509760"/>
            <a:ext cx="1671120" cy="285480"/>
          </a:xfrm>
          <a:prstGeom prst="rect">
            <a:avLst/>
          </a:prstGeom>
          <a:ln w="0">
            <a:noFill/>
          </a:ln>
        </p:spPr>
      </p:pic>
      <p:sp>
        <p:nvSpPr>
          <p:cNvPr id="211" name="TextBox 8"/>
          <p:cNvSpPr/>
          <p:nvPr/>
        </p:nvSpPr>
        <p:spPr>
          <a:xfrm>
            <a:off x="1085760" y="1261800"/>
            <a:ext cx="126648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Poppins SemiBold"/>
              </a:rPr>
              <a:t>Routing Problem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3288600" y="1261800"/>
            <a:ext cx="1247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Poppins SemiBold"/>
              </a:rPr>
              <a:t>Binary Variables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10"/>
          <p:cNvSpPr/>
          <p:nvPr/>
        </p:nvSpPr>
        <p:spPr>
          <a:xfrm>
            <a:off x="5643720" y="1261800"/>
            <a:ext cx="94248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2563eb"/>
                </a:solidFill>
                <a:latin typeface="Poppins SemiBold"/>
              </a:rPr>
              <a:t>QUBO Matrix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7674840" y="1261800"/>
            <a:ext cx="1514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Poppins SemiBold"/>
              </a:rPr>
              <a:t>Energy Minimization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10296360" y="1261800"/>
            <a:ext cx="11235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59669"/>
                </a:solidFill>
                <a:latin typeface="Poppins SemiBold"/>
              </a:rPr>
              <a:t>Feasible Route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Picture 13" descr="image.png"/>
          <p:cNvPicPr/>
          <p:nvPr/>
        </p:nvPicPr>
        <p:blipFill>
          <a:blip r:embed="rId8"/>
          <a:stretch/>
        </p:blipFill>
        <p:spPr>
          <a:xfrm>
            <a:off x="4304520" y="2114640"/>
            <a:ext cx="3582360" cy="232920"/>
          </a:xfrm>
          <a:prstGeom prst="rect">
            <a:avLst/>
          </a:prstGeom>
          <a:ln w="0">
            <a:noFill/>
          </a:ln>
        </p:spPr>
      </p:pic>
      <p:sp>
        <p:nvSpPr>
          <p:cNvPr id="217" name="TextBox 14"/>
          <p:cNvSpPr/>
          <p:nvPr/>
        </p:nvSpPr>
        <p:spPr>
          <a:xfrm>
            <a:off x="733320" y="4700520"/>
            <a:ext cx="13140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0f172a"/>
                </a:solidFill>
                <a:latin typeface="Lato"/>
              </a:rPr>
              <a:t>Deployment Readiness: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Picture 15" descr="image.png"/>
          <p:cNvPicPr/>
          <p:nvPr/>
        </p:nvPicPr>
        <p:blipFill>
          <a:blip r:embed="rId9"/>
          <a:stretch/>
        </p:blipFill>
        <p:spPr>
          <a:xfrm>
            <a:off x="771480" y="1262160"/>
            <a:ext cx="218880" cy="171000"/>
          </a:xfrm>
          <a:prstGeom prst="rect">
            <a:avLst/>
          </a:prstGeom>
          <a:ln w="0">
            <a:noFill/>
          </a:ln>
        </p:spPr>
      </p:pic>
      <p:pic>
        <p:nvPicPr>
          <p:cNvPr id="219" name="Picture 16" descr="image.png"/>
          <p:cNvPicPr/>
          <p:nvPr/>
        </p:nvPicPr>
        <p:blipFill>
          <a:blip r:embed="rId10"/>
          <a:stretch/>
        </p:blipFill>
        <p:spPr>
          <a:xfrm>
            <a:off x="2706120" y="127620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17" descr="image.png"/>
          <p:cNvPicPr/>
          <p:nvPr/>
        </p:nvPicPr>
        <p:blipFill>
          <a:blip r:embed="rId11"/>
          <a:stretch/>
        </p:blipFill>
        <p:spPr>
          <a:xfrm>
            <a:off x="4889880" y="127620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18" descr="image.png"/>
          <p:cNvPicPr/>
          <p:nvPr/>
        </p:nvPicPr>
        <p:blipFill>
          <a:blip r:embed="rId12"/>
          <a:stretch/>
        </p:blipFill>
        <p:spPr>
          <a:xfrm>
            <a:off x="5376960" y="126216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222" name="Picture 19" descr="image.png"/>
          <p:cNvPicPr/>
          <p:nvPr/>
        </p:nvPicPr>
        <p:blipFill>
          <a:blip r:embed="rId13"/>
          <a:stretch/>
        </p:blipFill>
        <p:spPr>
          <a:xfrm>
            <a:off x="6940080" y="127620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223" name="Picture 20" descr="image.png"/>
          <p:cNvPicPr/>
          <p:nvPr/>
        </p:nvPicPr>
        <p:blipFill>
          <a:blip r:embed="rId14"/>
          <a:stretch/>
        </p:blipFill>
        <p:spPr>
          <a:xfrm>
            <a:off x="7427160" y="1262160"/>
            <a:ext cx="151920" cy="17100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1" descr="image.png"/>
          <p:cNvPicPr/>
          <p:nvPr/>
        </p:nvPicPr>
        <p:blipFill>
          <a:blip r:embed="rId15"/>
          <a:stretch/>
        </p:blipFill>
        <p:spPr>
          <a:xfrm>
            <a:off x="9542880" y="127620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225" name="Picture 22" descr="image.png"/>
          <p:cNvPicPr/>
          <p:nvPr/>
        </p:nvPicPr>
        <p:blipFill>
          <a:blip r:embed="rId16"/>
          <a:stretch/>
        </p:blipFill>
        <p:spPr>
          <a:xfrm>
            <a:off x="10029960" y="126216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26" name="TextBox 23"/>
          <p:cNvSpPr/>
          <p:nvPr/>
        </p:nvSpPr>
        <p:spPr>
          <a:xfrm>
            <a:off x="1000080" y="2987640"/>
            <a:ext cx="48002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Plain English Logic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4"/>
          <p:cNvSpPr/>
          <p:nvPr/>
        </p:nvSpPr>
        <p:spPr>
          <a:xfrm>
            <a:off x="733320" y="3271680"/>
            <a:ext cx="506700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Fleet decisions are encoded as binary variables ($x_{i,j} \in \{0,1\}$). Penalty terms ($H_{\text{penalty}}$) mathematically eliminate illegal routes (e.g., missed stops or overloaded vehicles), while cost terms ($H_{\text{cost}}$) drive the optimizer toward global minimal road distance.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5"/>
          <p:cNvSpPr/>
          <p:nvPr/>
        </p:nvSpPr>
        <p:spPr>
          <a:xfrm>
            <a:off x="6657840" y="2987640"/>
            <a:ext cx="48002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Hard Constraints Enforced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Picture 26" descr="image.png"/>
          <p:cNvPicPr/>
          <p:nvPr/>
        </p:nvPicPr>
        <p:blipFill>
          <a:blip r:embed="rId17"/>
          <a:stretch/>
        </p:blipFill>
        <p:spPr>
          <a:xfrm>
            <a:off x="733320" y="300528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230" name="Picture 27" descr="image.png"/>
          <p:cNvPicPr/>
          <p:nvPr/>
        </p:nvPicPr>
        <p:blipFill>
          <a:blip r:embed="rId18"/>
          <a:stretch/>
        </p:blipFill>
        <p:spPr>
          <a:xfrm>
            <a:off x="6391440" y="300528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31" name="TextBox 28"/>
          <p:cNvSpPr/>
          <p:nvPr/>
        </p:nvSpPr>
        <p:spPr>
          <a:xfrm>
            <a:off x="6477120" y="32716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29"/>
          <p:cNvSpPr/>
          <p:nvPr/>
        </p:nvSpPr>
        <p:spPr>
          <a:xfrm>
            <a:off x="6562800" y="3271680"/>
            <a:ext cx="489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Single Visit:</a:t>
            </a: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 Every delivery stop visited exactly once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30"/>
          <p:cNvSpPr/>
          <p:nvPr/>
        </p:nvSpPr>
        <p:spPr>
          <a:xfrm>
            <a:off x="6477120" y="35956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31"/>
          <p:cNvSpPr/>
          <p:nvPr/>
        </p:nvSpPr>
        <p:spPr>
          <a:xfrm>
            <a:off x="6562800" y="3595680"/>
            <a:ext cx="489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Capacity Limits:</a:t>
            </a: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 Vehicle load limits strictly enforced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32"/>
          <p:cNvSpPr/>
          <p:nvPr/>
        </p:nvSpPr>
        <p:spPr>
          <a:xfrm>
            <a:off x="6477120" y="39196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33"/>
          <p:cNvSpPr/>
          <p:nvPr/>
        </p:nvSpPr>
        <p:spPr>
          <a:xfrm>
            <a:off x="6562800" y="3919680"/>
            <a:ext cx="489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Lato"/>
              </a:rPr>
              <a:t>Route Continuity:</a:t>
            </a: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 Sub-tour elimination and flow conservation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34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The Innovation: QUBO Formulation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39" name="Picture 2" descr="image.png"/>
          <p:cNvPicPr/>
          <p:nvPr/>
        </p:nvPicPr>
        <p:blipFill>
          <a:blip r:embed="rId2"/>
          <a:stretch/>
        </p:blipFill>
        <p:spPr>
          <a:xfrm>
            <a:off x="533520" y="3705120"/>
            <a:ext cx="11124720" cy="637920"/>
          </a:xfrm>
          <a:prstGeom prst="rect">
            <a:avLst/>
          </a:prstGeom>
          <a:ln w="0">
            <a:noFill/>
          </a:ln>
        </p:spPr>
      </p:pic>
      <p:pic>
        <p:nvPicPr>
          <p:cNvPr id="240" name="Picture 3" descr="image.png"/>
          <p:cNvPicPr/>
          <p:nvPr/>
        </p:nvPicPr>
        <p:blipFill>
          <a:blip r:embed="rId3"/>
          <a:stretch/>
        </p:blipFill>
        <p:spPr>
          <a:xfrm>
            <a:off x="533520" y="1076400"/>
            <a:ext cx="5466960" cy="1123560"/>
          </a:xfrm>
          <a:prstGeom prst="rect">
            <a:avLst/>
          </a:prstGeom>
          <a:ln w="0">
            <a:noFill/>
          </a:ln>
        </p:spPr>
      </p:pic>
      <p:pic>
        <p:nvPicPr>
          <p:cNvPr id="241" name="Picture 4" descr="image.png"/>
          <p:cNvPicPr/>
          <p:nvPr/>
        </p:nvPicPr>
        <p:blipFill>
          <a:blip r:embed="rId4"/>
          <a:stretch/>
        </p:blipFill>
        <p:spPr>
          <a:xfrm>
            <a:off x="6191280" y="1076400"/>
            <a:ext cx="5466960" cy="1123560"/>
          </a:xfrm>
          <a:prstGeom prst="rect">
            <a:avLst/>
          </a:prstGeom>
          <a:ln w="0">
            <a:noFill/>
          </a:ln>
        </p:spPr>
      </p:pic>
      <p:pic>
        <p:nvPicPr>
          <p:cNvPr id="242" name="Picture 5" descr="image.png"/>
          <p:cNvPicPr/>
          <p:nvPr/>
        </p:nvPicPr>
        <p:blipFill>
          <a:blip r:embed="rId5"/>
          <a:stretch/>
        </p:blipFill>
        <p:spPr>
          <a:xfrm>
            <a:off x="533520" y="2390760"/>
            <a:ext cx="5466960" cy="1123560"/>
          </a:xfrm>
          <a:prstGeom prst="rect">
            <a:avLst/>
          </a:prstGeom>
          <a:ln w="0">
            <a:noFill/>
          </a:ln>
        </p:spPr>
      </p:pic>
      <p:pic>
        <p:nvPicPr>
          <p:cNvPr id="243" name="Picture 6" descr="image.png"/>
          <p:cNvPicPr/>
          <p:nvPr/>
        </p:nvPicPr>
        <p:blipFill>
          <a:blip r:embed="rId6"/>
          <a:stretch/>
        </p:blipFill>
        <p:spPr>
          <a:xfrm>
            <a:off x="6191280" y="2390760"/>
            <a:ext cx="5466960" cy="1123560"/>
          </a:xfrm>
          <a:prstGeom prst="rect">
            <a:avLst/>
          </a:prstGeom>
          <a:ln w="0">
            <a:noFill/>
          </a:ln>
        </p:spPr>
      </p:pic>
      <p:pic>
        <p:nvPicPr>
          <p:cNvPr id="244" name="Picture 7" descr="image.png"/>
          <p:cNvPicPr/>
          <p:nvPr/>
        </p:nvPicPr>
        <p:blipFill>
          <a:blip r:embed="rId7"/>
          <a:stretch/>
        </p:blipFill>
        <p:spPr>
          <a:xfrm>
            <a:off x="10296360" y="509760"/>
            <a:ext cx="1361880" cy="285480"/>
          </a:xfrm>
          <a:prstGeom prst="rect">
            <a:avLst/>
          </a:prstGeom>
          <a:ln w="0">
            <a:noFill/>
          </a:ln>
        </p:spPr>
      </p:pic>
      <p:pic>
        <p:nvPicPr>
          <p:cNvPr id="245" name="Picture 8" descr="image.png"/>
          <p:cNvPicPr/>
          <p:nvPr/>
        </p:nvPicPr>
        <p:blipFill>
          <a:blip r:embed="rId8"/>
          <a:stretch/>
        </p:blipFill>
        <p:spPr>
          <a:xfrm>
            <a:off x="9982080" y="3890880"/>
            <a:ext cx="1437840" cy="266400"/>
          </a:xfrm>
          <a:prstGeom prst="rect">
            <a:avLst/>
          </a:prstGeom>
          <a:ln w="0">
            <a:noFill/>
          </a:ln>
        </p:spPr>
      </p:pic>
      <p:sp>
        <p:nvSpPr>
          <p:cNvPr id="246" name="TextBox 9"/>
          <p:cNvSpPr/>
          <p:nvPr/>
        </p:nvSpPr>
        <p:spPr>
          <a:xfrm>
            <a:off x="1000080" y="1277640"/>
            <a:ext cx="48002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 </a:t>
            </a: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Frontend Dashboard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0"/>
          <p:cNvSpPr/>
          <p:nvPr/>
        </p:nvSpPr>
        <p:spPr>
          <a:xfrm>
            <a:off x="733320" y="1562040"/>
            <a:ext cx="5067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Interactive fleet dashboard built with </a:t>
            </a:r>
            <a:r>
              <a:rPr b="1" lang="en-US" sz="1050" spc="-1" strike="noStrike">
                <a:solidFill>
                  <a:srgbClr val="334155"/>
                </a:solidFill>
                <a:latin typeface="Lato"/>
              </a:rPr>
              <a:t>React</a:t>
            </a: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 &amp; </a:t>
            </a:r>
            <a:r>
              <a:rPr b="1" lang="en-US" sz="1050" spc="-1" strike="noStrike">
                <a:solidFill>
                  <a:srgbClr val="334155"/>
                </a:solidFill>
                <a:latin typeface="Lato"/>
              </a:rPr>
              <a:t>Leaflet</a:t>
            </a: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 mapping.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1"/>
          <p:cNvSpPr/>
          <p:nvPr/>
        </p:nvSpPr>
        <p:spPr>
          <a:xfrm>
            <a:off x="733320" y="1857240"/>
            <a:ext cx="37238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Provides real-time interactive polyline rendering and sequence step badges.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2"/>
          <p:cNvSpPr/>
          <p:nvPr/>
        </p:nvSpPr>
        <p:spPr>
          <a:xfrm>
            <a:off x="6638760" y="1277640"/>
            <a:ext cx="48193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Asynchronous Backend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3"/>
          <p:cNvSpPr/>
          <p:nvPr/>
        </p:nvSpPr>
        <p:spPr>
          <a:xfrm>
            <a:off x="6391440" y="1562040"/>
            <a:ext cx="5067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High-performance REST API developed in </a:t>
            </a:r>
            <a:r>
              <a:rPr b="1" lang="en-US" sz="1050" spc="-1" strike="noStrike">
                <a:solidFill>
                  <a:srgbClr val="334155"/>
                </a:solidFill>
                <a:latin typeface="Lato"/>
              </a:rPr>
              <a:t>Python FastAPI</a:t>
            </a: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4"/>
          <p:cNvSpPr/>
          <p:nvPr/>
        </p:nvSpPr>
        <p:spPr>
          <a:xfrm>
            <a:off x="6391440" y="1857240"/>
            <a:ext cx="4181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Handles scenario state management, matrix parsing, and solver calls asynchronously.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5"/>
          <p:cNvSpPr/>
          <p:nvPr/>
        </p:nvSpPr>
        <p:spPr>
          <a:xfrm>
            <a:off x="1047600" y="2592360"/>
            <a:ext cx="47527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Road Graph Intelligence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6"/>
          <p:cNvSpPr/>
          <p:nvPr/>
        </p:nvSpPr>
        <p:spPr>
          <a:xfrm>
            <a:off x="733320" y="2876400"/>
            <a:ext cx="5067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Real-world graph routing built using </a:t>
            </a:r>
            <a:r>
              <a:rPr b="1" lang="en-US" sz="1050" spc="-1" strike="noStrike">
                <a:solidFill>
                  <a:srgbClr val="334155"/>
                </a:solidFill>
                <a:latin typeface="Lato"/>
              </a:rPr>
              <a:t>OSMNX</a:t>
            </a: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 &amp; </a:t>
            </a:r>
            <a:r>
              <a:rPr b="1" lang="en-US" sz="1050" spc="-1" strike="noStrike">
                <a:solidFill>
                  <a:srgbClr val="334155"/>
                </a:solidFill>
                <a:latin typeface="Lato"/>
              </a:rPr>
              <a:t>NetworkX</a:t>
            </a: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7"/>
          <p:cNvSpPr/>
          <p:nvPr/>
        </p:nvSpPr>
        <p:spPr>
          <a:xfrm>
            <a:off x="733320" y="3171960"/>
            <a:ext cx="4152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Computes true shortest-path distance matrices taking turn restrictions into account.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8"/>
          <p:cNvSpPr/>
          <p:nvPr/>
        </p:nvSpPr>
        <p:spPr>
          <a:xfrm>
            <a:off x="6657840" y="2592360"/>
            <a:ext cx="48002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f172a"/>
                </a:solidFill>
                <a:latin typeface="Lato SemiBold"/>
              </a:rPr>
              <a:t>Optimization Engine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9"/>
          <p:cNvSpPr/>
          <p:nvPr/>
        </p:nvSpPr>
        <p:spPr>
          <a:xfrm>
            <a:off x="6391440" y="2876400"/>
            <a:ext cx="5067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Binary Quadratic Models using </a:t>
            </a:r>
            <a:r>
              <a:rPr b="1" lang="en-US" sz="1050" spc="-1" strike="noStrike">
                <a:solidFill>
                  <a:srgbClr val="334155"/>
                </a:solidFill>
                <a:latin typeface="Lato"/>
              </a:rPr>
              <a:t>dimod</a:t>
            </a:r>
            <a:r>
              <a:rPr b="0" lang="en-US" sz="1050" spc="-1" strike="noStrike">
                <a:solidFill>
                  <a:srgbClr val="334155"/>
                </a:solidFill>
                <a:latin typeface="Lato"/>
              </a:rPr>
              <a:t> &amp; Simulated Quantum Annealing.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20"/>
          <p:cNvSpPr/>
          <p:nvPr/>
        </p:nvSpPr>
        <p:spPr>
          <a:xfrm>
            <a:off x="6391440" y="3171960"/>
            <a:ext cx="4169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Lato"/>
              </a:rPr>
              <a:t>Solves complex QUBO matrices on CPU (neal) with 400+ annealing reads per run.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21"/>
          <p:cNvSpPr/>
          <p:nvPr/>
        </p:nvSpPr>
        <p:spPr>
          <a:xfrm>
            <a:off x="771480" y="3867120"/>
            <a:ext cx="6552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40af"/>
                </a:solidFill>
                <a:latin typeface="Lato"/>
              </a:rPr>
              <a:t>DEPLOYMENT PHASING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22"/>
          <p:cNvSpPr/>
          <p:nvPr/>
        </p:nvSpPr>
        <p:spPr>
          <a:xfrm>
            <a:off x="771480" y="4010040"/>
            <a:ext cx="6552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30" spc="-1" strike="noStrike">
                <a:solidFill>
                  <a:srgbClr val="0f172a"/>
                </a:solidFill>
                <a:latin typeface="Lato"/>
              </a:rPr>
              <a:t>Current Phase: CPU Software Simulation $\longrightarrow$ Next Phase: Direct Cloud QPU Execution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Picture 23" descr="image.png"/>
          <p:cNvPicPr/>
          <p:nvPr/>
        </p:nvPicPr>
        <p:blipFill>
          <a:blip r:embed="rId9"/>
          <a:stretch/>
        </p:blipFill>
        <p:spPr>
          <a:xfrm>
            <a:off x="733320" y="129528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261" name="Picture 24" descr="image.png"/>
          <p:cNvPicPr/>
          <p:nvPr/>
        </p:nvPicPr>
        <p:blipFill>
          <a:blip r:embed="rId10"/>
          <a:stretch/>
        </p:blipFill>
        <p:spPr>
          <a:xfrm>
            <a:off x="6391440" y="1295280"/>
            <a:ext cx="151920" cy="17100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25" descr="image.png"/>
          <p:cNvPicPr/>
          <p:nvPr/>
        </p:nvPicPr>
        <p:blipFill>
          <a:blip r:embed="rId11"/>
          <a:stretch/>
        </p:blipFill>
        <p:spPr>
          <a:xfrm>
            <a:off x="733320" y="2610000"/>
            <a:ext cx="218880" cy="171000"/>
          </a:xfrm>
          <a:prstGeom prst="rect">
            <a:avLst/>
          </a:prstGeom>
          <a:ln w="0">
            <a:noFill/>
          </a:ln>
        </p:spPr>
      </p:pic>
      <p:pic>
        <p:nvPicPr>
          <p:cNvPr id="263" name="Picture 26" descr="image.png"/>
          <p:cNvPicPr/>
          <p:nvPr/>
        </p:nvPicPr>
        <p:blipFill>
          <a:blip r:embed="rId12"/>
          <a:stretch/>
        </p:blipFill>
        <p:spPr>
          <a:xfrm>
            <a:off x="6391440" y="261000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64" name="TextBox 27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Technical Implementation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66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7653960" cy="3428640"/>
          </a:xfrm>
          <a:prstGeom prst="rect">
            <a:avLst/>
          </a:prstGeom>
          <a:ln w="0">
            <a:noFill/>
          </a:ln>
        </p:spPr>
      </p:pic>
      <p:pic>
        <p:nvPicPr>
          <p:cNvPr id="267" name="Picture 3" descr="image.png"/>
          <p:cNvPicPr/>
          <p:nvPr/>
        </p:nvPicPr>
        <p:blipFill>
          <a:blip r:embed="rId3"/>
          <a:stretch/>
        </p:blipFill>
        <p:spPr>
          <a:xfrm>
            <a:off x="8378280" y="1076400"/>
            <a:ext cx="3279960" cy="3428640"/>
          </a:xfrm>
          <a:prstGeom prst="rect">
            <a:avLst/>
          </a:prstGeom>
          <a:ln w="0">
            <a:noFill/>
          </a:ln>
        </p:spPr>
      </p:pic>
      <p:pic>
        <p:nvPicPr>
          <p:cNvPr id="268" name="Picture 4" descr="image.png"/>
          <p:cNvPicPr/>
          <p:nvPr/>
        </p:nvPicPr>
        <p:blipFill>
          <a:blip r:embed="rId4"/>
          <a:stretch/>
        </p:blipFill>
        <p:spPr>
          <a:xfrm>
            <a:off x="8578080" y="3571920"/>
            <a:ext cx="2880000" cy="732960"/>
          </a:xfrm>
          <a:prstGeom prst="rect">
            <a:avLst/>
          </a:prstGeom>
          <a:ln w="0">
            <a:noFill/>
          </a:ln>
        </p:spPr>
      </p:pic>
      <p:pic>
        <p:nvPicPr>
          <p:cNvPr id="269" name="Picture 5" descr="image.png"/>
          <p:cNvPicPr/>
          <p:nvPr/>
        </p:nvPicPr>
        <p:blipFill>
          <a:blip r:embed="rId5"/>
          <a:stretch/>
        </p:blipFill>
        <p:spPr>
          <a:xfrm>
            <a:off x="10329840" y="509760"/>
            <a:ext cx="1328400" cy="285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70" name="Table 6"/>
          <p:cNvGraphicFramePr/>
          <p:nvPr/>
        </p:nvGraphicFramePr>
        <p:xfrm>
          <a:off x="542880" y="1085760"/>
          <a:ext cx="7634880" cy="3409560"/>
        </p:xfrm>
        <a:graphic>
          <a:graphicData uri="http://schemas.openxmlformats.org/drawingml/2006/table">
            <a:tbl>
              <a:tblPr/>
              <a:tblGrid>
                <a:gridCol w="1287720"/>
                <a:gridCol w="779760"/>
                <a:gridCol w="813240"/>
                <a:gridCol w="1207800"/>
                <a:gridCol w="1161720"/>
                <a:gridCol w="1144800"/>
                <a:gridCol w="1238760"/>
              </a:tblGrid>
              <a:tr h="5680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Scenario Scale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Fleet (V)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Stops (N)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Classical Baseline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QuantaFleet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Distance Saved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Improvement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680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Light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68.45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66.53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-1.92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Lato"/>
                        </a:rPr>
                        <a:t>2.8%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80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Medium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142.80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135.20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-7.60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Lato"/>
                        </a:rPr>
                        <a:t>5.3%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680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e40af"/>
                          </a:solidFill>
                          <a:latin typeface="Lato"/>
                        </a:rPr>
                        <a:t>Hackathon Base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e40af"/>
                          </a:solidFill>
                          <a:latin typeface="Lato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e40af"/>
                          </a:solidFill>
                          <a:latin typeface="Lato"/>
                        </a:rPr>
                        <a:t>80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e40af"/>
                          </a:solidFill>
                          <a:latin typeface="Lato"/>
                        </a:rPr>
                        <a:t>267.25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e40af"/>
                          </a:solidFill>
                          <a:latin typeface="Lato"/>
                        </a:rPr>
                        <a:t>249.19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e40af"/>
                          </a:solidFill>
                          <a:latin typeface="Lato"/>
                        </a:rPr>
                        <a:t>-18.06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563eb"/>
                          </a:solidFill>
                          <a:latin typeface="Lato"/>
                        </a:rPr>
                        <a:t>6.8%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5680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Dense Hub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80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385.40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346.86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-38.54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59669"/>
                          </a:solidFill>
                          <a:latin typeface="Lato"/>
                        </a:rPr>
                        <a:t>10.0%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6808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Enterprise Dense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150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620.80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551.27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-69.53 km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59669"/>
                          </a:solidFill>
                          <a:latin typeface="Lato"/>
                        </a:rPr>
                        <a:t>11.2%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271" name="Rectangle 7"/>
          <p:cNvSpPr/>
          <p:nvPr/>
        </p:nvSpPr>
        <p:spPr>
          <a:xfrm>
            <a:off x="542880" y="1762200"/>
            <a:ext cx="128772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Rectangle 8"/>
          <p:cNvSpPr/>
          <p:nvPr/>
        </p:nvSpPr>
        <p:spPr>
          <a:xfrm>
            <a:off x="1830960" y="1762200"/>
            <a:ext cx="77940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Rectangle 9"/>
          <p:cNvSpPr/>
          <p:nvPr/>
        </p:nvSpPr>
        <p:spPr>
          <a:xfrm>
            <a:off x="2610720" y="1762200"/>
            <a:ext cx="81324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Rectangle 10"/>
          <p:cNvSpPr/>
          <p:nvPr/>
        </p:nvSpPr>
        <p:spPr>
          <a:xfrm>
            <a:off x="3424320" y="1762200"/>
            <a:ext cx="120744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ectangle 11"/>
          <p:cNvSpPr/>
          <p:nvPr/>
        </p:nvSpPr>
        <p:spPr>
          <a:xfrm>
            <a:off x="4632120" y="1762200"/>
            <a:ext cx="116172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12"/>
          <p:cNvSpPr/>
          <p:nvPr/>
        </p:nvSpPr>
        <p:spPr>
          <a:xfrm>
            <a:off x="5794200" y="1762200"/>
            <a:ext cx="114480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Rectangle 13"/>
          <p:cNvSpPr/>
          <p:nvPr/>
        </p:nvSpPr>
        <p:spPr>
          <a:xfrm>
            <a:off x="6939360" y="1762200"/>
            <a:ext cx="123840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TextBox 14"/>
          <p:cNvSpPr/>
          <p:nvPr/>
        </p:nvSpPr>
        <p:spPr>
          <a:xfrm>
            <a:off x="8816400" y="1276200"/>
            <a:ext cx="2642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Lato SemiBold"/>
              </a:rPr>
              <a:t>Methodology Note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15"/>
          <p:cNvSpPr/>
          <p:nvPr/>
        </p:nvSpPr>
        <p:spPr>
          <a:xfrm>
            <a:off x="8578080" y="1542960"/>
            <a:ext cx="2880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b="0" lang="en-US" sz="980" spc="-1" strike="noStrike">
                <a:solidFill>
                  <a:srgbClr val="475569"/>
                </a:solidFill>
                <a:latin typeface="Lato"/>
              </a:rPr>
              <a:t>Tested using real-world OSMNX road graph geometry comparing classical greedy dispatch heuristics against QUBO simulated annealing.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6"/>
          <p:cNvSpPr/>
          <p:nvPr/>
        </p:nvSpPr>
        <p:spPr>
          <a:xfrm>
            <a:off x="8701920" y="3695760"/>
            <a:ext cx="26323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e40af"/>
                </a:solidFill>
                <a:latin typeface="Lato"/>
              </a:rPr>
              <a:t>KEY OBSERVATION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17"/>
          <p:cNvSpPr/>
          <p:nvPr/>
        </p:nvSpPr>
        <p:spPr>
          <a:xfrm>
            <a:off x="8701920" y="3876840"/>
            <a:ext cx="26323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0f172a"/>
                </a:solidFill>
                <a:latin typeface="Lato"/>
              </a:rPr>
              <a:t>Optimization gains scale higher as stop density and vehicle scaling increase (up to </a:t>
            </a:r>
            <a:r>
              <a:rPr b="1" lang="en-US" sz="980" spc="-1" strike="noStrike">
                <a:solidFill>
                  <a:srgbClr val="0f172a"/>
                </a:solidFill>
                <a:latin typeface="Lato"/>
              </a:rPr>
              <a:t>11.2%</a:t>
            </a:r>
            <a:r>
              <a:rPr b="0" lang="en-US" sz="980" spc="-1" strike="noStrike">
                <a:solidFill>
                  <a:srgbClr val="0f172a"/>
                </a:solidFill>
                <a:latin typeface="Lato"/>
              </a:rPr>
              <a:t>).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ectangle 18"/>
          <p:cNvSpPr/>
          <p:nvPr/>
        </p:nvSpPr>
        <p:spPr>
          <a:xfrm>
            <a:off x="542880" y="2224080"/>
            <a:ext cx="1287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Rectangle 19"/>
          <p:cNvSpPr/>
          <p:nvPr/>
        </p:nvSpPr>
        <p:spPr>
          <a:xfrm>
            <a:off x="1830960" y="2224080"/>
            <a:ext cx="779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Rectangle 20"/>
          <p:cNvSpPr/>
          <p:nvPr/>
        </p:nvSpPr>
        <p:spPr>
          <a:xfrm>
            <a:off x="2610720" y="2224080"/>
            <a:ext cx="81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Rectangle 21"/>
          <p:cNvSpPr/>
          <p:nvPr/>
        </p:nvSpPr>
        <p:spPr>
          <a:xfrm>
            <a:off x="3424320" y="2224080"/>
            <a:ext cx="1207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ectangle 22"/>
          <p:cNvSpPr/>
          <p:nvPr/>
        </p:nvSpPr>
        <p:spPr>
          <a:xfrm>
            <a:off x="4632120" y="2224080"/>
            <a:ext cx="1161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Rectangle 23"/>
          <p:cNvSpPr/>
          <p:nvPr/>
        </p:nvSpPr>
        <p:spPr>
          <a:xfrm>
            <a:off x="5794200" y="2224080"/>
            <a:ext cx="1144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Rectangle 24"/>
          <p:cNvSpPr/>
          <p:nvPr/>
        </p:nvSpPr>
        <p:spPr>
          <a:xfrm>
            <a:off x="6939360" y="2224080"/>
            <a:ext cx="1238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Rectangle 25"/>
          <p:cNvSpPr/>
          <p:nvPr/>
        </p:nvSpPr>
        <p:spPr>
          <a:xfrm>
            <a:off x="542880" y="2671920"/>
            <a:ext cx="1287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26"/>
          <p:cNvSpPr/>
          <p:nvPr/>
        </p:nvSpPr>
        <p:spPr>
          <a:xfrm>
            <a:off x="1830960" y="2671920"/>
            <a:ext cx="779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Rectangle 27"/>
          <p:cNvSpPr/>
          <p:nvPr/>
        </p:nvSpPr>
        <p:spPr>
          <a:xfrm>
            <a:off x="2610720" y="2671920"/>
            <a:ext cx="81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28"/>
          <p:cNvSpPr/>
          <p:nvPr/>
        </p:nvSpPr>
        <p:spPr>
          <a:xfrm>
            <a:off x="3424320" y="2671920"/>
            <a:ext cx="1207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ectangle 29"/>
          <p:cNvSpPr/>
          <p:nvPr/>
        </p:nvSpPr>
        <p:spPr>
          <a:xfrm>
            <a:off x="4632120" y="2671920"/>
            <a:ext cx="1161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ectangle 30"/>
          <p:cNvSpPr/>
          <p:nvPr/>
        </p:nvSpPr>
        <p:spPr>
          <a:xfrm>
            <a:off x="5794200" y="2671920"/>
            <a:ext cx="1144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Rectangle 31"/>
          <p:cNvSpPr/>
          <p:nvPr/>
        </p:nvSpPr>
        <p:spPr>
          <a:xfrm>
            <a:off x="6939360" y="2671920"/>
            <a:ext cx="1238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32"/>
          <p:cNvSpPr/>
          <p:nvPr/>
        </p:nvSpPr>
        <p:spPr>
          <a:xfrm>
            <a:off x="542880" y="3343320"/>
            <a:ext cx="128772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33"/>
          <p:cNvSpPr/>
          <p:nvPr/>
        </p:nvSpPr>
        <p:spPr>
          <a:xfrm>
            <a:off x="1830960" y="3343320"/>
            <a:ext cx="77940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ectangle 34"/>
          <p:cNvSpPr/>
          <p:nvPr/>
        </p:nvSpPr>
        <p:spPr>
          <a:xfrm>
            <a:off x="2610720" y="3343320"/>
            <a:ext cx="81324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Rectangle 35"/>
          <p:cNvSpPr/>
          <p:nvPr/>
        </p:nvSpPr>
        <p:spPr>
          <a:xfrm>
            <a:off x="3424320" y="3343320"/>
            <a:ext cx="120744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36"/>
          <p:cNvSpPr/>
          <p:nvPr/>
        </p:nvSpPr>
        <p:spPr>
          <a:xfrm>
            <a:off x="4632120" y="3343320"/>
            <a:ext cx="116172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37"/>
          <p:cNvSpPr/>
          <p:nvPr/>
        </p:nvSpPr>
        <p:spPr>
          <a:xfrm>
            <a:off x="5794200" y="3343320"/>
            <a:ext cx="114480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Rectangle 38"/>
          <p:cNvSpPr/>
          <p:nvPr/>
        </p:nvSpPr>
        <p:spPr>
          <a:xfrm>
            <a:off x="6939360" y="3343320"/>
            <a:ext cx="1238400" cy="18720"/>
          </a:xfrm>
          <a:prstGeom prst="rect">
            <a:avLst/>
          </a:prstGeom>
          <a:solidFill>
            <a:srgbClr val="93c5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Rectangle 39"/>
          <p:cNvSpPr/>
          <p:nvPr/>
        </p:nvSpPr>
        <p:spPr>
          <a:xfrm>
            <a:off x="542880" y="3805200"/>
            <a:ext cx="1287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Rectangle 40"/>
          <p:cNvSpPr/>
          <p:nvPr/>
        </p:nvSpPr>
        <p:spPr>
          <a:xfrm>
            <a:off x="1830960" y="3805200"/>
            <a:ext cx="779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Rectangle 41"/>
          <p:cNvSpPr/>
          <p:nvPr/>
        </p:nvSpPr>
        <p:spPr>
          <a:xfrm>
            <a:off x="2610720" y="3805200"/>
            <a:ext cx="81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Rectangle 42"/>
          <p:cNvSpPr/>
          <p:nvPr/>
        </p:nvSpPr>
        <p:spPr>
          <a:xfrm>
            <a:off x="3424320" y="3805200"/>
            <a:ext cx="1207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Rectangle 43"/>
          <p:cNvSpPr/>
          <p:nvPr/>
        </p:nvSpPr>
        <p:spPr>
          <a:xfrm>
            <a:off x="4632120" y="3805200"/>
            <a:ext cx="1161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Rectangle 44"/>
          <p:cNvSpPr/>
          <p:nvPr/>
        </p:nvSpPr>
        <p:spPr>
          <a:xfrm>
            <a:off x="5794200" y="3805200"/>
            <a:ext cx="1144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45"/>
          <p:cNvSpPr/>
          <p:nvPr/>
        </p:nvSpPr>
        <p:spPr>
          <a:xfrm>
            <a:off x="6939360" y="3805200"/>
            <a:ext cx="1238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Rectangle 46"/>
          <p:cNvSpPr/>
          <p:nvPr/>
        </p:nvSpPr>
        <p:spPr>
          <a:xfrm>
            <a:off x="542880" y="4481640"/>
            <a:ext cx="1287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Rectangle 47"/>
          <p:cNvSpPr/>
          <p:nvPr/>
        </p:nvSpPr>
        <p:spPr>
          <a:xfrm>
            <a:off x="1830960" y="4481640"/>
            <a:ext cx="779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Rectangle 48"/>
          <p:cNvSpPr/>
          <p:nvPr/>
        </p:nvSpPr>
        <p:spPr>
          <a:xfrm>
            <a:off x="2610720" y="4481640"/>
            <a:ext cx="81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tangle 49"/>
          <p:cNvSpPr/>
          <p:nvPr/>
        </p:nvSpPr>
        <p:spPr>
          <a:xfrm>
            <a:off x="3424320" y="4481640"/>
            <a:ext cx="1207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50"/>
          <p:cNvSpPr/>
          <p:nvPr/>
        </p:nvSpPr>
        <p:spPr>
          <a:xfrm>
            <a:off x="4632120" y="4481640"/>
            <a:ext cx="1161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Rectangle 51"/>
          <p:cNvSpPr/>
          <p:nvPr/>
        </p:nvSpPr>
        <p:spPr>
          <a:xfrm>
            <a:off x="5794200" y="4481640"/>
            <a:ext cx="1144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52"/>
          <p:cNvSpPr/>
          <p:nvPr/>
        </p:nvSpPr>
        <p:spPr>
          <a:xfrm>
            <a:off x="6939360" y="4481640"/>
            <a:ext cx="1238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7" name="Picture 53" descr="image.png"/>
          <p:cNvPicPr/>
          <p:nvPr/>
        </p:nvPicPr>
        <p:blipFill>
          <a:blip r:embed="rId6"/>
          <a:stretch/>
        </p:blipFill>
        <p:spPr>
          <a:xfrm>
            <a:off x="8578080" y="1290600"/>
            <a:ext cx="142560" cy="142560"/>
          </a:xfrm>
          <a:prstGeom prst="rect">
            <a:avLst/>
          </a:prstGeom>
          <a:ln w="0">
            <a:noFill/>
          </a:ln>
        </p:spPr>
      </p:pic>
      <p:sp>
        <p:nvSpPr>
          <p:cNvPr id="318" name="TextBox 54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Measured Performance Benchmarks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20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11124720" cy="409320"/>
          </a:xfrm>
          <a:prstGeom prst="rect">
            <a:avLst/>
          </a:prstGeom>
          <a:ln w="0">
            <a:noFill/>
          </a:ln>
        </p:spPr>
      </p:pic>
      <p:pic>
        <p:nvPicPr>
          <p:cNvPr id="321" name="Picture 3" descr="image.png"/>
          <p:cNvPicPr/>
          <p:nvPr/>
        </p:nvPicPr>
        <p:blipFill>
          <a:blip r:embed="rId3"/>
          <a:stretch/>
        </p:blipFill>
        <p:spPr>
          <a:xfrm>
            <a:off x="533520" y="1676520"/>
            <a:ext cx="3580920" cy="1647360"/>
          </a:xfrm>
          <a:prstGeom prst="rect">
            <a:avLst/>
          </a:prstGeom>
          <a:ln w="0">
            <a:noFill/>
          </a:ln>
        </p:spPr>
      </p:pic>
      <p:pic>
        <p:nvPicPr>
          <p:cNvPr id="322" name="Picture 4" descr="image.png"/>
          <p:cNvPicPr/>
          <p:nvPr/>
        </p:nvPicPr>
        <p:blipFill>
          <a:blip r:embed="rId4"/>
          <a:stretch/>
        </p:blipFill>
        <p:spPr>
          <a:xfrm>
            <a:off x="4305240" y="1676520"/>
            <a:ext cx="3580920" cy="1647360"/>
          </a:xfrm>
          <a:prstGeom prst="rect">
            <a:avLst/>
          </a:prstGeom>
          <a:ln w="0">
            <a:noFill/>
          </a:ln>
        </p:spPr>
      </p:pic>
      <p:pic>
        <p:nvPicPr>
          <p:cNvPr id="323" name="Picture 5" descr="image.png"/>
          <p:cNvPicPr/>
          <p:nvPr/>
        </p:nvPicPr>
        <p:blipFill>
          <a:blip r:embed="rId5"/>
          <a:stretch/>
        </p:blipFill>
        <p:spPr>
          <a:xfrm>
            <a:off x="8077320" y="1676520"/>
            <a:ext cx="3580920" cy="1647360"/>
          </a:xfrm>
          <a:prstGeom prst="rect">
            <a:avLst/>
          </a:prstGeom>
          <a:ln w="0">
            <a:noFill/>
          </a:ln>
        </p:spPr>
      </p:pic>
      <p:pic>
        <p:nvPicPr>
          <p:cNvPr id="324" name="Picture 6" descr="image.png"/>
          <p:cNvPicPr/>
          <p:nvPr/>
        </p:nvPicPr>
        <p:blipFill>
          <a:blip r:embed="rId6"/>
          <a:stretch/>
        </p:blipFill>
        <p:spPr>
          <a:xfrm>
            <a:off x="10310760" y="509760"/>
            <a:ext cx="1347480" cy="285480"/>
          </a:xfrm>
          <a:prstGeom prst="rect">
            <a:avLst/>
          </a:prstGeom>
          <a:ln w="0">
            <a:noFill/>
          </a:ln>
        </p:spPr>
      </p:pic>
      <p:sp>
        <p:nvSpPr>
          <p:cNvPr id="325" name="TextBox 7"/>
          <p:cNvSpPr/>
          <p:nvPr/>
        </p:nvSpPr>
        <p:spPr>
          <a:xfrm>
            <a:off x="533520" y="3552840"/>
            <a:ext cx="11124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900" spc="-1" strike="noStrike">
                <a:solidFill>
                  <a:srgbClr val="64748b"/>
                </a:solidFill>
                <a:latin typeface="Lato"/>
              </a:rPr>
              <a:t> </a:t>
            </a:r>
            <a:r>
              <a:rPr b="0" i="1" lang="en-US" sz="900" spc="-1" strike="noStrike">
                <a:solidFill>
                  <a:srgbClr val="64748b"/>
                </a:solidFill>
                <a:latin typeface="Lato"/>
              </a:rPr>
              <a:t>Disclaimer: Illustrative projection based on standard fleet operating parameters and measured simulation distance improvements; not a verified enterprise site deployment result.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733320" y="1200240"/>
            <a:ext cx="971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f172a"/>
                </a:solidFill>
                <a:latin typeface="Lato"/>
              </a:rPr>
              <a:t>Scenario Frame: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9"/>
          <p:cNvSpPr/>
          <p:nvPr/>
        </p:nvSpPr>
        <p:spPr>
          <a:xfrm>
            <a:off x="743040" y="1962000"/>
            <a:ext cx="3161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047857"/>
                </a:solidFill>
                <a:latin typeface="Lato"/>
              </a:rPr>
              <a:t>ANNUAL COST SAVINGS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0"/>
          <p:cNvSpPr/>
          <p:nvPr/>
        </p:nvSpPr>
        <p:spPr>
          <a:xfrm>
            <a:off x="743040" y="2228760"/>
            <a:ext cx="3161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50" spc="-1" strike="noStrike">
                <a:solidFill>
                  <a:srgbClr val="059669"/>
                </a:solidFill>
                <a:latin typeface="Poppins"/>
              </a:rPr>
              <a:t>₹</a:t>
            </a:r>
            <a:r>
              <a:rPr b="1" lang="en-US" sz="2850" spc="-1" strike="noStrike">
                <a:solidFill>
                  <a:srgbClr val="059669"/>
                </a:solidFill>
                <a:latin typeface="Poppins"/>
              </a:rPr>
              <a:t>96.79 Cr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11"/>
          <p:cNvSpPr/>
          <p:nvPr/>
        </p:nvSpPr>
        <p:spPr>
          <a:xfrm>
            <a:off x="743040" y="2886120"/>
            <a:ext cx="3161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334155"/>
                </a:solidFill>
                <a:latin typeface="Lato"/>
              </a:rPr>
              <a:t>Projected annual fuel &amp; vehicle maintenance reduction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4514760" y="1962000"/>
            <a:ext cx="3161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1e40af"/>
                </a:solidFill>
                <a:latin typeface="Lato"/>
              </a:rPr>
              <a:t>DAILY FUEL SAVED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3"/>
          <p:cNvSpPr/>
          <p:nvPr/>
        </p:nvSpPr>
        <p:spPr>
          <a:xfrm>
            <a:off x="4514760" y="2228760"/>
            <a:ext cx="3161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50" spc="-1" strike="noStrike">
                <a:solidFill>
                  <a:srgbClr val="2563eb"/>
                </a:solidFill>
                <a:latin typeface="Poppins"/>
              </a:rPr>
              <a:t>25,500 L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14"/>
          <p:cNvSpPr/>
          <p:nvPr/>
        </p:nvSpPr>
        <p:spPr>
          <a:xfrm>
            <a:off x="4514760" y="2886120"/>
            <a:ext cx="3161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334155"/>
                </a:solidFill>
                <a:latin typeface="Lato"/>
              </a:rPr>
              <a:t>Estimated reduction in daily diesel consumption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15"/>
          <p:cNvSpPr/>
          <p:nvPr/>
        </p:nvSpPr>
        <p:spPr>
          <a:xfrm>
            <a:off x="8286840" y="1962000"/>
            <a:ext cx="3161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047857"/>
                </a:solidFill>
                <a:latin typeface="Lato"/>
              </a:rPr>
              <a:t>CARBON FOOTPRINT OFFSET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16"/>
          <p:cNvSpPr/>
          <p:nvPr/>
        </p:nvSpPr>
        <p:spPr>
          <a:xfrm>
            <a:off x="8286840" y="2228760"/>
            <a:ext cx="3161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50" spc="-1" strike="noStrike">
                <a:solidFill>
                  <a:srgbClr val="059669"/>
                </a:solidFill>
                <a:latin typeface="Poppins"/>
              </a:rPr>
              <a:t>24,944 T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7"/>
          <p:cNvSpPr/>
          <p:nvPr/>
        </p:nvSpPr>
        <p:spPr>
          <a:xfrm>
            <a:off x="8286840" y="2886120"/>
            <a:ext cx="31618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334155"/>
                </a:solidFill>
                <a:latin typeface="Lato"/>
              </a:rPr>
              <a:t>Annual $CO_2$ emissions offset achieved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Illustrative Enterprise Impact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38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3631680" cy="4190760"/>
          </a:xfrm>
          <a:prstGeom prst="rect">
            <a:avLst/>
          </a:prstGeom>
          <a:ln w="0">
            <a:noFill/>
          </a:ln>
        </p:spPr>
      </p:pic>
      <p:pic>
        <p:nvPicPr>
          <p:cNvPr id="339" name="Picture 3" descr="image.png"/>
          <p:cNvPicPr/>
          <p:nvPr/>
        </p:nvPicPr>
        <p:blipFill>
          <a:blip r:embed="rId3"/>
          <a:stretch/>
        </p:blipFill>
        <p:spPr>
          <a:xfrm>
            <a:off x="4394160" y="1076400"/>
            <a:ext cx="7264080" cy="880560"/>
          </a:xfrm>
          <a:prstGeom prst="rect">
            <a:avLst/>
          </a:prstGeom>
          <a:ln w="0">
            <a:noFill/>
          </a:ln>
        </p:spPr>
      </p:pic>
      <p:pic>
        <p:nvPicPr>
          <p:cNvPr id="340" name="Picture 4" descr="image.png"/>
          <p:cNvPicPr/>
          <p:nvPr/>
        </p:nvPicPr>
        <p:blipFill>
          <a:blip r:embed="rId4"/>
          <a:stretch/>
        </p:blipFill>
        <p:spPr>
          <a:xfrm>
            <a:off x="4394160" y="2090880"/>
            <a:ext cx="7264080" cy="880560"/>
          </a:xfrm>
          <a:prstGeom prst="rect">
            <a:avLst/>
          </a:prstGeom>
          <a:ln w="0">
            <a:noFill/>
          </a:ln>
        </p:spPr>
      </p:pic>
      <p:pic>
        <p:nvPicPr>
          <p:cNvPr id="341" name="Picture 5" descr="image.png"/>
          <p:cNvPicPr/>
          <p:nvPr/>
        </p:nvPicPr>
        <p:blipFill>
          <a:blip r:embed="rId5"/>
          <a:stretch/>
        </p:blipFill>
        <p:spPr>
          <a:xfrm>
            <a:off x="4394160" y="3105000"/>
            <a:ext cx="7264080" cy="880560"/>
          </a:xfrm>
          <a:prstGeom prst="rect">
            <a:avLst/>
          </a:prstGeom>
          <a:ln w="0">
            <a:noFill/>
          </a:ln>
        </p:spPr>
      </p:pic>
      <p:pic>
        <p:nvPicPr>
          <p:cNvPr id="342" name="Picture 6" descr="image.png"/>
          <p:cNvPicPr/>
          <p:nvPr/>
        </p:nvPicPr>
        <p:blipFill>
          <a:blip r:embed="rId6"/>
          <a:stretch/>
        </p:blipFill>
        <p:spPr>
          <a:xfrm>
            <a:off x="4394160" y="4119480"/>
            <a:ext cx="7264080" cy="399600"/>
          </a:xfrm>
          <a:prstGeom prst="rect">
            <a:avLst/>
          </a:prstGeom>
          <a:ln w="0">
            <a:noFill/>
          </a:ln>
        </p:spPr>
      </p:pic>
      <p:pic>
        <p:nvPicPr>
          <p:cNvPr id="343" name="Picture 7" descr="image.png"/>
          <p:cNvPicPr/>
          <p:nvPr/>
        </p:nvPicPr>
        <p:blipFill>
          <a:blip r:embed="rId7"/>
          <a:stretch/>
        </p:blipFill>
        <p:spPr>
          <a:xfrm>
            <a:off x="10334520" y="509760"/>
            <a:ext cx="1323720" cy="285480"/>
          </a:xfrm>
          <a:prstGeom prst="rect">
            <a:avLst/>
          </a:prstGeom>
          <a:ln w="0">
            <a:noFill/>
          </a:ln>
        </p:spPr>
      </p:pic>
      <p:pic>
        <p:nvPicPr>
          <p:cNvPr id="344" name="Picture 8" descr="image.png"/>
          <p:cNvPicPr/>
          <p:nvPr/>
        </p:nvPicPr>
        <p:blipFill>
          <a:blip r:embed="rId8"/>
          <a:stretch/>
        </p:blipFill>
        <p:spPr>
          <a:xfrm>
            <a:off x="542880" y="1085760"/>
            <a:ext cx="3612600" cy="4171680"/>
          </a:xfrm>
          <a:prstGeom prst="rect">
            <a:avLst/>
          </a:prstGeom>
          <a:ln w="0">
            <a:noFill/>
          </a:ln>
        </p:spPr>
      </p:pic>
      <p:sp>
        <p:nvSpPr>
          <p:cNvPr id="345" name="TextBox 9"/>
          <p:cNvSpPr/>
          <p:nvPr/>
        </p:nvSpPr>
        <p:spPr>
          <a:xfrm>
            <a:off x="4632120" y="1571760"/>
            <a:ext cx="682596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b="0" lang="en-US" sz="980" spc="-1" strike="noStrike">
                <a:solidFill>
                  <a:srgbClr val="334155"/>
                </a:solidFill>
                <a:latin typeface="Lato"/>
              </a:rPr>
              <a:t>Focus: High-density urban parcel routes. Primary Metric: Minimal distance per delivered parcel.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10"/>
          <p:cNvSpPr/>
          <p:nvPr/>
        </p:nvSpPr>
        <p:spPr>
          <a:xfrm>
            <a:off x="4632120" y="2585880"/>
            <a:ext cx="682596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b="0" lang="en-US" sz="980" spc="-1" strike="noStrike">
                <a:solidFill>
                  <a:srgbClr val="334155"/>
                </a:solidFill>
                <a:latin typeface="Lato"/>
              </a:rPr>
              <a:t>Focus: Range-constrained routing with integrated charging station nodes. Primary Metric: Energy consumption per route.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1"/>
          <p:cNvSpPr/>
          <p:nvPr/>
        </p:nvSpPr>
        <p:spPr>
          <a:xfrm>
            <a:off x="4632120" y="3600360"/>
            <a:ext cx="682596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b="0" lang="en-US" sz="980" spc="-1" strike="noStrike">
                <a:solidFill>
                  <a:srgbClr val="334155"/>
                </a:solidFill>
                <a:latin typeface="Lato"/>
              </a:rPr>
              <a:t>Focus: Time-window constrained perishable transport. Primary Metric: On-time delivery compliance.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Picture 12" descr="image.png"/>
          <p:cNvPicPr/>
          <p:nvPr/>
        </p:nvPicPr>
        <p:blipFill>
          <a:blip r:embed="rId9"/>
          <a:stretch/>
        </p:blipFill>
        <p:spPr>
          <a:xfrm>
            <a:off x="5397480" y="4262400"/>
            <a:ext cx="142560" cy="123480"/>
          </a:xfrm>
          <a:prstGeom prst="rect">
            <a:avLst/>
          </a:prstGeom>
          <a:ln w="0">
            <a:noFill/>
          </a:ln>
        </p:spPr>
      </p:pic>
      <p:sp>
        <p:nvSpPr>
          <p:cNvPr id="349" name="TextBox 13"/>
          <p:cNvSpPr/>
          <p:nvPr/>
        </p:nvSpPr>
        <p:spPr>
          <a:xfrm>
            <a:off x="4632120" y="1276200"/>
            <a:ext cx="17600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Last-Mile Delivery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0" name="Picture 14" descr="image.png"/>
          <p:cNvPicPr/>
          <p:nvPr/>
        </p:nvPicPr>
        <p:blipFill>
          <a:blip r:embed="rId10"/>
          <a:stretch/>
        </p:blipFill>
        <p:spPr>
          <a:xfrm>
            <a:off x="10611000" y="1305000"/>
            <a:ext cx="847440" cy="180720"/>
          </a:xfrm>
          <a:prstGeom prst="rect">
            <a:avLst/>
          </a:prstGeom>
          <a:ln w="0">
            <a:noFill/>
          </a:ln>
        </p:spPr>
      </p:pic>
      <p:sp>
        <p:nvSpPr>
          <p:cNvPr id="351" name="TextBox 15"/>
          <p:cNvSpPr/>
          <p:nvPr/>
        </p:nvSpPr>
        <p:spPr>
          <a:xfrm>
            <a:off x="4632120" y="2290680"/>
            <a:ext cx="2409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320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Electric Vehicle (EV) Fleets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Picture 16" descr="image.png"/>
          <p:cNvPicPr/>
          <p:nvPr/>
        </p:nvPicPr>
        <p:blipFill>
          <a:blip r:embed="rId11"/>
          <a:stretch/>
        </p:blipFill>
        <p:spPr>
          <a:xfrm>
            <a:off x="10458360" y="2319480"/>
            <a:ext cx="999720" cy="180720"/>
          </a:xfrm>
          <a:prstGeom prst="rect">
            <a:avLst/>
          </a:prstGeom>
          <a:ln w="0">
            <a:noFill/>
          </a:ln>
        </p:spPr>
      </p:pic>
      <p:sp>
        <p:nvSpPr>
          <p:cNvPr id="353" name="TextBox 17"/>
          <p:cNvSpPr/>
          <p:nvPr/>
        </p:nvSpPr>
        <p:spPr>
          <a:xfrm>
            <a:off x="4632120" y="3305160"/>
            <a:ext cx="1989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320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Cold-Chain Logistics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4" name="Picture 18" descr="image.png"/>
          <p:cNvPicPr/>
          <p:nvPr/>
        </p:nvPicPr>
        <p:blipFill>
          <a:blip r:embed="rId12"/>
          <a:stretch/>
        </p:blipFill>
        <p:spPr>
          <a:xfrm>
            <a:off x="10477440" y="3333600"/>
            <a:ext cx="980640" cy="180720"/>
          </a:xfrm>
          <a:prstGeom prst="rect">
            <a:avLst/>
          </a:prstGeom>
          <a:ln w="0">
            <a:noFill/>
          </a:ln>
        </p:spPr>
      </p:pic>
      <p:pic>
        <p:nvPicPr>
          <p:cNvPr id="355" name="Picture 19" descr="image.png"/>
          <p:cNvPicPr/>
          <p:nvPr/>
        </p:nvPicPr>
        <p:blipFill>
          <a:blip r:embed="rId13"/>
          <a:stretch/>
        </p:blipFill>
        <p:spPr>
          <a:xfrm>
            <a:off x="4632120" y="1314360"/>
            <a:ext cx="190080" cy="151920"/>
          </a:xfrm>
          <a:prstGeom prst="rect">
            <a:avLst/>
          </a:prstGeom>
          <a:ln w="0">
            <a:noFill/>
          </a:ln>
        </p:spPr>
      </p:pic>
      <p:pic>
        <p:nvPicPr>
          <p:cNvPr id="356" name="Picture 20" descr="image.png"/>
          <p:cNvPicPr/>
          <p:nvPr/>
        </p:nvPicPr>
        <p:blipFill>
          <a:blip r:embed="rId14"/>
          <a:stretch/>
        </p:blipFill>
        <p:spPr>
          <a:xfrm>
            <a:off x="4632120" y="232884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357" name="Picture 21" descr="image.png"/>
          <p:cNvPicPr/>
          <p:nvPr/>
        </p:nvPicPr>
        <p:blipFill>
          <a:blip r:embed="rId15"/>
          <a:stretch/>
        </p:blipFill>
        <p:spPr>
          <a:xfrm>
            <a:off x="4632120" y="3343320"/>
            <a:ext cx="132840" cy="151920"/>
          </a:xfrm>
          <a:prstGeom prst="rect">
            <a:avLst/>
          </a:prstGeom>
          <a:ln w="0">
            <a:noFill/>
          </a:ln>
        </p:spPr>
      </p:pic>
      <p:sp>
        <p:nvSpPr>
          <p:cNvPr id="358" name="TextBox 22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Scalable Enterprise Use Cases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60" name="Picture 2" descr="image.png"/>
          <p:cNvPicPr/>
          <p:nvPr/>
        </p:nvPicPr>
        <p:blipFill>
          <a:blip r:embed="rId2"/>
          <a:stretch/>
        </p:blipFill>
        <p:spPr>
          <a:xfrm>
            <a:off x="533520" y="2619360"/>
            <a:ext cx="2558160" cy="1257120"/>
          </a:xfrm>
          <a:prstGeom prst="rect">
            <a:avLst/>
          </a:prstGeom>
          <a:ln w="0">
            <a:noFill/>
          </a:ln>
        </p:spPr>
      </p:pic>
      <p:pic>
        <p:nvPicPr>
          <p:cNvPr id="361" name="Picture 3" descr="image.png"/>
          <p:cNvPicPr/>
          <p:nvPr/>
        </p:nvPicPr>
        <p:blipFill>
          <a:blip r:embed="rId3"/>
          <a:stretch/>
        </p:blipFill>
        <p:spPr>
          <a:xfrm>
            <a:off x="3388680" y="2619360"/>
            <a:ext cx="2558160" cy="933120"/>
          </a:xfrm>
          <a:prstGeom prst="rect">
            <a:avLst/>
          </a:prstGeom>
          <a:ln w="0">
            <a:noFill/>
          </a:ln>
        </p:spPr>
      </p:pic>
      <p:pic>
        <p:nvPicPr>
          <p:cNvPr id="362" name="Picture 4" descr="image.png"/>
          <p:cNvPicPr/>
          <p:nvPr/>
        </p:nvPicPr>
        <p:blipFill>
          <a:blip r:embed="rId4"/>
          <a:stretch/>
        </p:blipFill>
        <p:spPr>
          <a:xfrm>
            <a:off x="6244200" y="2619360"/>
            <a:ext cx="2558160" cy="1161720"/>
          </a:xfrm>
          <a:prstGeom prst="rect">
            <a:avLst/>
          </a:prstGeom>
          <a:ln w="0">
            <a:noFill/>
          </a:ln>
        </p:spPr>
      </p:pic>
      <p:pic>
        <p:nvPicPr>
          <p:cNvPr id="363" name="Picture 5" descr="image.png"/>
          <p:cNvPicPr/>
          <p:nvPr/>
        </p:nvPicPr>
        <p:blipFill>
          <a:blip r:embed="rId5"/>
          <a:stretch/>
        </p:blipFill>
        <p:spPr>
          <a:xfrm>
            <a:off x="9099720" y="2619360"/>
            <a:ext cx="2558160" cy="933120"/>
          </a:xfrm>
          <a:prstGeom prst="rect">
            <a:avLst/>
          </a:prstGeom>
          <a:ln w="0">
            <a:noFill/>
          </a:ln>
        </p:spPr>
      </p:pic>
      <p:pic>
        <p:nvPicPr>
          <p:cNvPr id="364" name="Picture 6" descr="image.png"/>
          <p:cNvPicPr/>
          <p:nvPr/>
        </p:nvPicPr>
        <p:blipFill>
          <a:blip r:embed="rId6"/>
          <a:stretch/>
        </p:blipFill>
        <p:spPr>
          <a:xfrm>
            <a:off x="10148760" y="509760"/>
            <a:ext cx="1509480" cy="285480"/>
          </a:xfrm>
          <a:prstGeom prst="rect">
            <a:avLst/>
          </a:prstGeom>
          <a:ln w="0">
            <a:noFill/>
          </a:ln>
        </p:spPr>
      </p:pic>
      <p:sp>
        <p:nvSpPr>
          <p:cNvPr id="365" name="Rectangle 7"/>
          <p:cNvSpPr/>
          <p:nvPr/>
        </p:nvSpPr>
        <p:spPr>
          <a:xfrm>
            <a:off x="1645920" y="2600280"/>
            <a:ext cx="8899560" cy="378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6" name="Picture 8" descr="image.png"/>
          <p:cNvPicPr/>
          <p:nvPr/>
        </p:nvPicPr>
        <p:blipFill>
          <a:blip r:embed="rId7"/>
          <a:stretch/>
        </p:blipFill>
        <p:spPr>
          <a:xfrm>
            <a:off x="1508040" y="1362240"/>
            <a:ext cx="609120" cy="609120"/>
          </a:xfrm>
          <a:prstGeom prst="rect">
            <a:avLst/>
          </a:prstGeom>
          <a:ln w="0">
            <a:noFill/>
          </a:ln>
        </p:spPr>
      </p:pic>
      <p:sp>
        <p:nvSpPr>
          <p:cNvPr id="367" name="TextBox 9"/>
          <p:cNvSpPr/>
          <p:nvPr/>
        </p:nvSpPr>
        <p:spPr>
          <a:xfrm>
            <a:off x="1550880" y="2124000"/>
            <a:ext cx="523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563eb"/>
                </a:solidFill>
                <a:latin typeface="Lato"/>
              </a:rPr>
              <a:t>PHASE 01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10"/>
          <p:cNvSpPr/>
          <p:nvPr/>
        </p:nvSpPr>
        <p:spPr>
          <a:xfrm>
            <a:off x="1346040" y="2305080"/>
            <a:ext cx="97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NOW (MVP)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Picture 11" descr="image.png"/>
          <p:cNvPicPr/>
          <p:nvPr/>
        </p:nvPicPr>
        <p:blipFill>
          <a:blip r:embed="rId8"/>
          <a:stretch/>
        </p:blipFill>
        <p:spPr>
          <a:xfrm>
            <a:off x="4363200" y="1362240"/>
            <a:ext cx="609120" cy="609120"/>
          </a:xfrm>
          <a:prstGeom prst="rect">
            <a:avLst/>
          </a:prstGeom>
          <a:ln w="0">
            <a:noFill/>
          </a:ln>
        </p:spPr>
      </p:pic>
      <p:sp>
        <p:nvSpPr>
          <p:cNvPr id="370" name="TextBox 12"/>
          <p:cNvSpPr/>
          <p:nvPr/>
        </p:nvSpPr>
        <p:spPr>
          <a:xfrm>
            <a:off x="4406040" y="2124000"/>
            <a:ext cx="523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64748b"/>
                </a:solidFill>
                <a:latin typeface="Lato"/>
              </a:rPr>
              <a:t>PHASE 02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3"/>
          <p:cNvSpPr/>
          <p:nvPr/>
        </p:nvSpPr>
        <p:spPr>
          <a:xfrm>
            <a:off x="4206240" y="2305080"/>
            <a:ext cx="969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NEXT (QPU)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Picture 14" descr="image.png"/>
          <p:cNvPicPr/>
          <p:nvPr/>
        </p:nvPicPr>
        <p:blipFill>
          <a:blip r:embed="rId9"/>
          <a:stretch/>
        </p:blipFill>
        <p:spPr>
          <a:xfrm>
            <a:off x="7218720" y="1362240"/>
            <a:ext cx="609120" cy="609120"/>
          </a:xfrm>
          <a:prstGeom prst="rect">
            <a:avLst/>
          </a:prstGeom>
          <a:ln w="0">
            <a:noFill/>
          </a:ln>
        </p:spPr>
      </p:pic>
      <p:sp>
        <p:nvSpPr>
          <p:cNvPr id="373" name="TextBox 15"/>
          <p:cNvSpPr/>
          <p:nvPr/>
        </p:nvSpPr>
        <p:spPr>
          <a:xfrm>
            <a:off x="7261560" y="2124000"/>
            <a:ext cx="523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64748b"/>
                </a:solidFill>
                <a:latin typeface="Lato"/>
              </a:rPr>
              <a:t>PHASE 03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6"/>
          <p:cNvSpPr/>
          <p:nvPr/>
        </p:nvSpPr>
        <p:spPr>
          <a:xfrm>
            <a:off x="6951960" y="2305080"/>
            <a:ext cx="11998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THEN (Hybrid)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5" name="Picture 17" descr="image.png"/>
          <p:cNvPicPr/>
          <p:nvPr/>
        </p:nvPicPr>
        <p:blipFill>
          <a:blip r:embed="rId10"/>
          <a:stretch/>
        </p:blipFill>
        <p:spPr>
          <a:xfrm>
            <a:off x="10074240" y="1362240"/>
            <a:ext cx="609120" cy="609120"/>
          </a:xfrm>
          <a:prstGeom prst="rect">
            <a:avLst/>
          </a:prstGeom>
          <a:ln w="0">
            <a:noFill/>
          </a:ln>
        </p:spPr>
      </p:pic>
      <p:sp>
        <p:nvSpPr>
          <p:cNvPr id="376" name="TextBox 18"/>
          <p:cNvSpPr/>
          <p:nvPr/>
        </p:nvSpPr>
        <p:spPr>
          <a:xfrm>
            <a:off x="10117080" y="2124000"/>
            <a:ext cx="523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64748b"/>
                </a:solidFill>
                <a:latin typeface="Lato"/>
              </a:rPr>
              <a:t>PHASE 04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19"/>
          <p:cNvSpPr/>
          <p:nvPr/>
        </p:nvSpPr>
        <p:spPr>
          <a:xfrm>
            <a:off x="9912240" y="2305080"/>
            <a:ext cx="97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Poppins"/>
              </a:rPr>
              <a:t>SCALE (API)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8" name="Picture 20" descr="image.png"/>
          <p:cNvPicPr/>
          <p:nvPr/>
        </p:nvPicPr>
        <p:blipFill>
          <a:blip r:embed="rId11"/>
          <a:stretch/>
        </p:blipFill>
        <p:spPr>
          <a:xfrm>
            <a:off x="1679400" y="1562040"/>
            <a:ext cx="266400" cy="209160"/>
          </a:xfrm>
          <a:prstGeom prst="rect">
            <a:avLst/>
          </a:prstGeom>
          <a:ln w="0">
            <a:noFill/>
          </a:ln>
        </p:spPr>
      </p:pic>
      <p:pic>
        <p:nvPicPr>
          <p:cNvPr id="379" name="Picture 21" descr="image.png"/>
          <p:cNvPicPr/>
          <p:nvPr/>
        </p:nvPicPr>
        <p:blipFill>
          <a:blip r:embed="rId12"/>
          <a:stretch/>
        </p:blipFill>
        <p:spPr>
          <a:xfrm>
            <a:off x="4534920" y="1562040"/>
            <a:ext cx="266400" cy="209160"/>
          </a:xfrm>
          <a:prstGeom prst="rect">
            <a:avLst/>
          </a:prstGeom>
          <a:ln w="0">
            <a:noFill/>
          </a:ln>
        </p:spPr>
      </p:pic>
      <p:pic>
        <p:nvPicPr>
          <p:cNvPr id="380" name="Picture 22" descr="image.png"/>
          <p:cNvPicPr/>
          <p:nvPr/>
        </p:nvPicPr>
        <p:blipFill>
          <a:blip r:embed="rId13"/>
          <a:stretch/>
        </p:blipFill>
        <p:spPr>
          <a:xfrm>
            <a:off x="7418880" y="1562040"/>
            <a:ext cx="209160" cy="209160"/>
          </a:xfrm>
          <a:prstGeom prst="rect">
            <a:avLst/>
          </a:prstGeom>
          <a:ln w="0">
            <a:noFill/>
          </a:ln>
        </p:spPr>
      </p:pic>
      <p:pic>
        <p:nvPicPr>
          <p:cNvPr id="381" name="Picture 23" descr="image.png"/>
          <p:cNvPicPr/>
          <p:nvPr/>
        </p:nvPicPr>
        <p:blipFill>
          <a:blip r:embed="rId14"/>
          <a:stretch/>
        </p:blipFill>
        <p:spPr>
          <a:xfrm>
            <a:off x="10298160" y="1562040"/>
            <a:ext cx="161640" cy="209160"/>
          </a:xfrm>
          <a:prstGeom prst="rect">
            <a:avLst/>
          </a:prstGeom>
          <a:ln w="0">
            <a:noFill/>
          </a:ln>
        </p:spPr>
      </p:pic>
      <p:sp>
        <p:nvSpPr>
          <p:cNvPr id="382" name="TextBox 24"/>
          <p:cNvSpPr/>
          <p:nvPr/>
        </p:nvSpPr>
        <p:spPr>
          <a:xfrm>
            <a:off x="723960" y="2762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5"/>
          <p:cNvSpPr/>
          <p:nvPr/>
        </p:nvSpPr>
        <p:spPr>
          <a:xfrm>
            <a:off x="809640" y="2762280"/>
            <a:ext cx="213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CPU simulated annealing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26"/>
          <p:cNvSpPr/>
          <p:nvPr/>
        </p:nvSpPr>
        <p:spPr>
          <a:xfrm>
            <a:off x="723960" y="3086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27"/>
          <p:cNvSpPr/>
          <p:nvPr/>
        </p:nvSpPr>
        <p:spPr>
          <a:xfrm>
            <a:off x="809640" y="3086280"/>
            <a:ext cx="213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OSMNX road graph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28"/>
          <p:cNvSpPr/>
          <p:nvPr/>
        </p:nvSpPr>
        <p:spPr>
          <a:xfrm>
            <a:off x="723960" y="340992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29"/>
          <p:cNvSpPr/>
          <p:nvPr/>
        </p:nvSpPr>
        <p:spPr>
          <a:xfrm>
            <a:off x="809640" y="3409920"/>
            <a:ext cx="213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Interactive React web UI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30"/>
          <p:cNvSpPr/>
          <p:nvPr/>
        </p:nvSpPr>
        <p:spPr>
          <a:xfrm>
            <a:off x="3579480" y="2762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1"/>
          <p:cNvSpPr/>
          <p:nvPr/>
        </p:nvSpPr>
        <p:spPr>
          <a:xfrm>
            <a:off x="3665160" y="2762280"/>
            <a:ext cx="213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D-Wave Leap cloud integration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2"/>
          <p:cNvSpPr/>
          <p:nvPr/>
        </p:nvSpPr>
        <p:spPr>
          <a:xfrm>
            <a:off x="3579480" y="3086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33"/>
          <p:cNvSpPr/>
          <p:nvPr/>
        </p:nvSpPr>
        <p:spPr>
          <a:xfrm>
            <a:off x="3665160" y="3086280"/>
            <a:ext cx="213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Quantum hardware benchmarks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34"/>
          <p:cNvSpPr/>
          <p:nvPr/>
        </p:nvSpPr>
        <p:spPr>
          <a:xfrm>
            <a:off x="6434640" y="2762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35"/>
          <p:cNvSpPr/>
          <p:nvPr/>
        </p:nvSpPr>
        <p:spPr>
          <a:xfrm>
            <a:off x="6520320" y="2762280"/>
            <a:ext cx="213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Clustering + QUBO pipeline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36"/>
          <p:cNvSpPr/>
          <p:nvPr/>
        </p:nvSpPr>
        <p:spPr>
          <a:xfrm>
            <a:off x="6434640" y="3086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37"/>
          <p:cNvSpPr/>
          <p:nvPr/>
        </p:nvSpPr>
        <p:spPr>
          <a:xfrm>
            <a:off x="6520320" y="3086280"/>
            <a:ext cx="213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Dynamic recalculation on live traffic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38"/>
          <p:cNvSpPr/>
          <p:nvPr/>
        </p:nvSpPr>
        <p:spPr>
          <a:xfrm>
            <a:off x="9290160" y="2762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39"/>
          <p:cNvSpPr/>
          <p:nvPr/>
        </p:nvSpPr>
        <p:spPr>
          <a:xfrm>
            <a:off x="9375840" y="2762280"/>
            <a:ext cx="213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Multi-depot fleet scaling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40"/>
          <p:cNvSpPr/>
          <p:nvPr/>
        </p:nvSpPr>
        <p:spPr>
          <a:xfrm>
            <a:off x="9290160" y="3086280"/>
            <a:ext cx="85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41"/>
          <p:cNvSpPr/>
          <p:nvPr/>
        </p:nvSpPr>
        <p:spPr>
          <a:xfrm>
            <a:off x="9375840" y="3086280"/>
            <a:ext cx="213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</a:rPr>
              <a:t>Live telematics integration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42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Production Roadmap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02" name="Picture 2" descr="image.png"/>
          <p:cNvPicPr/>
          <p:nvPr/>
        </p:nvPicPr>
        <p:blipFill>
          <a:blip r:embed="rId2"/>
          <a:stretch/>
        </p:blipFill>
        <p:spPr>
          <a:xfrm>
            <a:off x="533520" y="1076400"/>
            <a:ext cx="11124720" cy="2733480"/>
          </a:xfrm>
          <a:prstGeom prst="rect">
            <a:avLst/>
          </a:prstGeom>
          <a:ln w="0">
            <a:noFill/>
          </a:ln>
        </p:spPr>
      </p:pic>
      <p:pic>
        <p:nvPicPr>
          <p:cNvPr id="403" name="Picture 3" descr="image.png"/>
          <p:cNvPicPr/>
          <p:nvPr/>
        </p:nvPicPr>
        <p:blipFill>
          <a:blip r:embed="rId3"/>
          <a:stretch/>
        </p:blipFill>
        <p:spPr>
          <a:xfrm>
            <a:off x="533520" y="4000680"/>
            <a:ext cx="11124720" cy="771120"/>
          </a:xfrm>
          <a:prstGeom prst="rect">
            <a:avLst/>
          </a:prstGeom>
          <a:ln w="0">
            <a:noFill/>
          </a:ln>
        </p:spPr>
      </p:pic>
      <p:pic>
        <p:nvPicPr>
          <p:cNvPr id="404" name="Picture 4" descr="image.png"/>
          <p:cNvPicPr/>
          <p:nvPr/>
        </p:nvPicPr>
        <p:blipFill>
          <a:blip r:embed="rId4"/>
          <a:stretch/>
        </p:blipFill>
        <p:spPr>
          <a:xfrm>
            <a:off x="10258560" y="509760"/>
            <a:ext cx="1399680" cy="285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05" name="Table 5"/>
          <p:cNvGraphicFramePr/>
          <p:nvPr/>
        </p:nvGraphicFramePr>
        <p:xfrm>
          <a:off x="542880" y="1085760"/>
          <a:ext cx="11105640" cy="2714400"/>
        </p:xfrm>
        <a:graphic>
          <a:graphicData uri="http://schemas.openxmlformats.org/drawingml/2006/table">
            <a:tbl>
              <a:tblPr/>
              <a:tblGrid>
                <a:gridCol w="2251800"/>
                <a:gridCol w="2520360"/>
                <a:gridCol w="2481840"/>
                <a:gridCol w="3851280"/>
              </a:tblGrid>
              <a:tr h="45216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Feature / Dimension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Standard Routing Tools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 SemiBold"/>
                        </a:rPr>
                        <a:t>Classical Heuristics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Lato SemiBold"/>
                        </a:rPr>
                        <a:t>QuantaFleet Engine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5216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Optimization Focus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Point-to-point routing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Local search heuristics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Fleet-wide energy optimization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Road Mapping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Straight-line / simplified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Basic network graphs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Full OSMNX road network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216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Search Mechanics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Myopic local choices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Trapped in local minima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Global QUBO space search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Constraint Engine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Basic distance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Capacity limits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Capacity + Multi-constraint QUBO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216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Future Hardware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Classical only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Classical only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Native Quantum-Annealer Compatible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06" name="Picture 6" descr="image.png"/>
          <p:cNvPicPr/>
          <p:nvPr/>
        </p:nvPicPr>
        <p:blipFill>
          <a:blip r:embed="rId5"/>
          <a:stretch/>
        </p:blipFill>
        <p:spPr>
          <a:xfrm>
            <a:off x="9829800" y="4191120"/>
            <a:ext cx="1580760" cy="390240"/>
          </a:xfrm>
          <a:prstGeom prst="rect">
            <a:avLst/>
          </a:prstGeom>
          <a:ln w="0">
            <a:noFill/>
          </a:ln>
        </p:spPr>
      </p:pic>
      <p:sp>
        <p:nvSpPr>
          <p:cNvPr id="407" name="Rectangle 7"/>
          <p:cNvSpPr/>
          <p:nvPr/>
        </p:nvSpPr>
        <p:spPr>
          <a:xfrm>
            <a:off x="542880" y="1533600"/>
            <a:ext cx="225144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Rectangle 8"/>
          <p:cNvSpPr/>
          <p:nvPr/>
        </p:nvSpPr>
        <p:spPr>
          <a:xfrm>
            <a:off x="2794680" y="1533600"/>
            <a:ext cx="2520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Rectangle 9"/>
          <p:cNvSpPr/>
          <p:nvPr/>
        </p:nvSpPr>
        <p:spPr>
          <a:xfrm>
            <a:off x="5315400" y="1533600"/>
            <a:ext cx="248184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Rectangle 10"/>
          <p:cNvSpPr/>
          <p:nvPr/>
        </p:nvSpPr>
        <p:spPr>
          <a:xfrm>
            <a:off x="7797600" y="1533600"/>
            <a:ext cx="385128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11"/>
          <p:cNvSpPr/>
          <p:nvPr/>
        </p:nvSpPr>
        <p:spPr>
          <a:xfrm>
            <a:off x="781200" y="4195800"/>
            <a:ext cx="5829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Lato"/>
              </a:rPr>
              <a:t>Key Takeaway: Up to 11.2% lower travel distance across enterprise scenarios.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12"/>
          <p:cNvSpPr/>
          <p:nvPr/>
        </p:nvSpPr>
        <p:spPr>
          <a:xfrm>
            <a:off x="781200" y="4424400"/>
            <a:ext cx="5829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pc="-1" strike="noStrike">
                <a:solidFill>
                  <a:srgbClr val="475569"/>
                </a:solidFill>
                <a:latin typeface="Lato"/>
              </a:rPr>
              <a:t>Built as a functional MVP • Validated against classical baselines • Engineered to scale.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ectangle 13"/>
          <p:cNvSpPr/>
          <p:nvPr/>
        </p:nvSpPr>
        <p:spPr>
          <a:xfrm>
            <a:off x="542880" y="1995480"/>
            <a:ext cx="2251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Rectangle 14"/>
          <p:cNvSpPr/>
          <p:nvPr/>
        </p:nvSpPr>
        <p:spPr>
          <a:xfrm>
            <a:off x="2794680" y="1995480"/>
            <a:ext cx="25203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Rectangle 15"/>
          <p:cNvSpPr/>
          <p:nvPr/>
        </p:nvSpPr>
        <p:spPr>
          <a:xfrm>
            <a:off x="5315400" y="1995480"/>
            <a:ext cx="2481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Rectangle 16"/>
          <p:cNvSpPr/>
          <p:nvPr/>
        </p:nvSpPr>
        <p:spPr>
          <a:xfrm>
            <a:off x="7797600" y="1995480"/>
            <a:ext cx="385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Rectangle 17"/>
          <p:cNvSpPr/>
          <p:nvPr/>
        </p:nvSpPr>
        <p:spPr>
          <a:xfrm>
            <a:off x="542880" y="2443320"/>
            <a:ext cx="2251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Rectangle 18"/>
          <p:cNvSpPr/>
          <p:nvPr/>
        </p:nvSpPr>
        <p:spPr>
          <a:xfrm>
            <a:off x="2794680" y="2443320"/>
            <a:ext cx="25203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Rectangle 19"/>
          <p:cNvSpPr/>
          <p:nvPr/>
        </p:nvSpPr>
        <p:spPr>
          <a:xfrm>
            <a:off x="5315400" y="2443320"/>
            <a:ext cx="2481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Rectangle 20"/>
          <p:cNvSpPr/>
          <p:nvPr/>
        </p:nvSpPr>
        <p:spPr>
          <a:xfrm>
            <a:off x="7797600" y="2443320"/>
            <a:ext cx="385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Rectangle 21"/>
          <p:cNvSpPr/>
          <p:nvPr/>
        </p:nvSpPr>
        <p:spPr>
          <a:xfrm>
            <a:off x="542880" y="2890800"/>
            <a:ext cx="2251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Rectangle 22"/>
          <p:cNvSpPr/>
          <p:nvPr/>
        </p:nvSpPr>
        <p:spPr>
          <a:xfrm>
            <a:off x="2794680" y="2890800"/>
            <a:ext cx="25203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Rectangle 23"/>
          <p:cNvSpPr/>
          <p:nvPr/>
        </p:nvSpPr>
        <p:spPr>
          <a:xfrm>
            <a:off x="5315400" y="2890800"/>
            <a:ext cx="2481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Rectangle 24"/>
          <p:cNvSpPr/>
          <p:nvPr/>
        </p:nvSpPr>
        <p:spPr>
          <a:xfrm>
            <a:off x="7797600" y="2890800"/>
            <a:ext cx="385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Rectangle 25"/>
          <p:cNvSpPr/>
          <p:nvPr/>
        </p:nvSpPr>
        <p:spPr>
          <a:xfrm>
            <a:off x="542880" y="3338640"/>
            <a:ext cx="2251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Rectangle 26"/>
          <p:cNvSpPr/>
          <p:nvPr/>
        </p:nvSpPr>
        <p:spPr>
          <a:xfrm>
            <a:off x="2794680" y="3338640"/>
            <a:ext cx="25203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Rectangle 27"/>
          <p:cNvSpPr/>
          <p:nvPr/>
        </p:nvSpPr>
        <p:spPr>
          <a:xfrm>
            <a:off x="5315400" y="3338640"/>
            <a:ext cx="2481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Rectangle 28"/>
          <p:cNvSpPr/>
          <p:nvPr/>
        </p:nvSpPr>
        <p:spPr>
          <a:xfrm>
            <a:off x="7797600" y="3338640"/>
            <a:ext cx="385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Rectangle 29"/>
          <p:cNvSpPr/>
          <p:nvPr/>
        </p:nvSpPr>
        <p:spPr>
          <a:xfrm>
            <a:off x="542880" y="3786120"/>
            <a:ext cx="22514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Rectangle 30"/>
          <p:cNvSpPr/>
          <p:nvPr/>
        </p:nvSpPr>
        <p:spPr>
          <a:xfrm>
            <a:off x="2794680" y="3786120"/>
            <a:ext cx="25203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Rectangle 31"/>
          <p:cNvSpPr/>
          <p:nvPr/>
        </p:nvSpPr>
        <p:spPr>
          <a:xfrm>
            <a:off x="5315400" y="3786120"/>
            <a:ext cx="2481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Rectangle 32"/>
          <p:cNvSpPr/>
          <p:nvPr/>
        </p:nvSpPr>
        <p:spPr>
          <a:xfrm>
            <a:off x="7797600" y="3786120"/>
            <a:ext cx="385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TextBox 33"/>
          <p:cNvSpPr/>
          <p:nvPr/>
        </p:nvSpPr>
        <p:spPr>
          <a:xfrm>
            <a:off x="533520" y="457560"/>
            <a:ext cx="111247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Lato"/>
              </a:rPr>
              <a:t>Why QuantaFleet Wins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2026-08-17T23:05:15Z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