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2" y="1842194"/>
            <a:ext cx="204787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812" y="4253805"/>
            <a:ext cx="6810375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38125"/>
            <a:ext cx="2505075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0553" y="2413694"/>
            <a:ext cx="7150893" cy="72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QuantaFleet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0812" y="3324225"/>
            <a:ext cx="681037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Quantum-Inspired Fleet Routing &amp; Logistics Engine</a:t>
            </a:r>
            <a:r>
              <a:t>
</a:t>
            </a:r>
            <a:r>
              <a:rPr b="0" sz="1650" i="0" u="none">
                <a:solidFill>
                  <a:srgbClr val="94A3B8"/>
                </a:solidFill>
                <a:latin typeface="Plus Jakarta Sans"/>
              </a:rPr>
              <a:t>Next-Generation CVRP Optimization Powered by QUBO Hamiltonian Solvers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037" y="1946969"/>
            <a:ext cx="142875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90837" y="4453830"/>
            <a:ext cx="2009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TRACK &amp;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0837" y="4634805"/>
            <a:ext cx="20097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3F4F6"/>
                </a:solidFill>
                <a:latin typeface="Plus Jakarta Sans SemiBold"/>
              </a:rPr>
              <a:t>SIH Logistics &amp; Supply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1112" y="4453830"/>
            <a:ext cx="2009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KEY IMPACT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1112" y="4634805"/>
            <a:ext cx="20097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3F4F6"/>
                </a:solidFill>
                <a:latin typeface="Plus Jakarta Sans SemiBold"/>
              </a:rPr>
              <a:t>11.2% Distance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1387" y="4453830"/>
            <a:ext cx="2009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1387" y="4634805"/>
            <a:ext cx="20097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3F4F6"/>
                </a:solidFill>
                <a:latin typeface="Plus Jakarta Sans SemiBold"/>
              </a:rPr>
              <a:t>Enterprise Fleet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37" y="238125"/>
            <a:ext cx="1785937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5590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Logistics Inefficiency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1228725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3F4F6"/>
                </a:solidFill>
                <a:latin typeface="Space Grotesk"/>
              </a:rPr>
              <a:t>Combinatorial Explosion in Metro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638300"/>
            <a:ext cx="53244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Classical greedy routing algorithms use myopic O(N²) local rules. In dense corridors like South Mumbai, trucks fall into the </a:t>
            </a: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"Peninsular Trap"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, getting trapped at dead-ends and forcing 25+ km backtracks.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522041"/>
            <a:ext cx="53244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Over 30% of truck mileage is wasted daily across 1.5M fleet km in India. A fleet of 10 trucks serving 100 points faces over </a:t>
            </a: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10¹⁵ permutations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, impossible for classical brute-force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25" y="238125"/>
            <a:ext cx="131445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1990725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Full-Stack Logistics Optimization: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 Combines real-world road graph data (OSMNX Mumbai Graph) with Quantum-Inspired Solvers (D-Wave Ocean SDK).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809875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Deterministic Real-Road Mapping: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 Replaces naive straight-line Euclidean distances with actual shortest-path road network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29025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Exact Route Mesh Visualization: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 Interactive Leaflet map displaying exact point-to-point road polylines and numbered stop sequence badges for every vehicle.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4481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3F4F6"/>
                </a:solidFill>
                <a:latin typeface="Plus Jakarta Sans SemiBold"/>
              </a:rPr>
              <a:t>Dual-Solver Engine:</a:t>
            </a:r>
            <a:r>
              <a:rPr b="0" sz="1200" i="0" u="none">
                <a:solidFill>
                  <a:srgbClr val="9CA3AF"/>
                </a:solidFill>
                <a:latin typeface="Plus Jakarta Sans"/>
              </a:rPr>
              <a:t> Real-time side-by-side execution of Quantum-Inspired Annealing vs Classical Greedy Baseline for instant ROI proof.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00250"/>
            <a:ext cx="53054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QuantaFleet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009775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828925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648075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46722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93887"/>
            <a:ext cx="5324475" cy="301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93887"/>
            <a:ext cx="5324475" cy="301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604468"/>
            <a:ext cx="4733925" cy="5397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604468"/>
            <a:ext cx="4733925" cy="53979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0" y="238125"/>
            <a:ext cx="1495425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589162"/>
            <a:ext cx="497062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Ising Hamiltonian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998737"/>
            <a:ext cx="47339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CVRP is mapped to a Quadratic Unconstrained Binary Optimization 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77617"/>
            <a:ext cx="4733925" cy="443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Integrates One-Hot Step penalties (1 node per time step), Unique Visit guarantees, and Vehicle Capacity Bounds (penalty for exceeding load Q</a:t>
            </a:r>
            <a:r>
              <a:rPr b="0" sz="1050" i="0" u="none">
                <a:solidFill>
                  <a:srgbClr val="9CA3AF"/>
                </a:solidFill>
                <a:latin typeface="Plus Jakarta Sans"/>
              </a:rPr>
              <a:t>v</a:t>
            </a:r>
            <a:r>
              <a:rPr b="0" sz="1050" i="0" u="none">
                <a:solidFill>
                  <a:srgbClr val="9CA3AF"/>
                </a:solidFill>
                <a:latin typeface="Plus Jakarta Sans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589162"/>
            <a:ext cx="497062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Quantum Tunneling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998737"/>
            <a:ext cx="47339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Unlike classical thermal annealing which must climb over energy peaks: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277617"/>
            <a:ext cx="4733925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Quantum Tunneling penetrates directly through tall energy barriers, finding the global optimal route ground state where classical algorithms get trapped in local minima.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791" y="3823543"/>
            <a:ext cx="1924942" cy="15879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1975" y="3799433"/>
            <a:ext cx="1533376" cy="1829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QUBO &amp; Quantum Tunneling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1275"/>
            <a:ext cx="352425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1275"/>
            <a:ext cx="3524250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81275"/>
            <a:ext cx="3524250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38125"/>
            <a:ext cx="181927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57500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React 18, Vite, Leaflet.js, and Recharts. Designed with clean dark-mode visual hierarchy and real-time interactive route polylines.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857500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Python FastAPI asynchronous engine serving scenario generation, OSMNX graph querying, and real-time optimization solver endpoints.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950" y="2857500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29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Optimization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D-Wave Ocean SDK (`dimod` BQM &amp; `neal` simulated annealer) executing 400 annealing reads per dispatch run over 6,500+ road nodes.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787" y="2981325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925" y="2981325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6775" y="2981325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Full-Stack Technical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675" y="238125"/>
            <a:ext cx="1905000" cy="2762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025" y="5132337"/>
            <a:ext cx="110299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2475" y="5246637"/>
            <a:ext cx="10687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3F4F6"/>
                </a:solidFill>
                <a:latin typeface="Plus Jakarta Sans SemiBold"/>
              </a:rPr>
              <a:t>Hardware Scaling Note: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CPU Simulation runs software loops on standard processors (0.2s–6.4s). Deploying directly on native D-Wave Advantage QPU hardware completes physical annealing in </a:t>
            </a:r>
            <a:r>
              <a:rPr b="0" sz="975" i="0" u="none">
                <a:solidFill>
                  <a:srgbClr val="F3F4F6"/>
                </a:solidFill>
                <a:latin typeface="Plus Jakarta Sans SemiBold"/>
              </a:rPr>
              <a:t>20 microseconds per read (~34,000x faster)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5132337"/>
            <a:ext cx="381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1025" y="1935212"/>
          <a:ext cx="11010896" cy="304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98141"/>
                <a:gridCol w="1255216"/>
                <a:gridCol w="1208484"/>
                <a:gridCol w="1476970"/>
                <a:gridCol w="1237654"/>
                <a:gridCol w="1237654"/>
                <a:gridCol w="1605408"/>
                <a:gridCol w="1191369"/>
              </a:tblGrid>
              <a:tr h="50745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Scenario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Nodes 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Fleet (V)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Greedy Dist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QIO Dist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Saved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Improvement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CPU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745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Light Run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68.45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66.53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-1.92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745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Medium Run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142.80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135.20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-7.60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1,120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745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Hackathon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267.25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249.19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-18.06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2,230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745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Dense Hub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385.40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346.86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-38.54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3,850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74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Enterprise Dense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150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620.80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551.27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-69.53 km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11.2%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6,420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2418010"/>
            <a:ext cx="1798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88691" y="2418010"/>
            <a:ext cx="12552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3907" y="2418010"/>
            <a:ext cx="120848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2392" y="2418010"/>
            <a:ext cx="147697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9362" y="2418010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7017" y="2418010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04671" y="2418010"/>
            <a:ext cx="16054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10080" y="2418010"/>
            <a:ext cx="11913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2928491"/>
            <a:ext cx="1798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88691" y="2928491"/>
            <a:ext cx="12552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43907" y="2928491"/>
            <a:ext cx="120848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52392" y="2928491"/>
            <a:ext cx="147697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9362" y="292849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7017" y="292849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04671" y="2928491"/>
            <a:ext cx="16054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10080" y="2928491"/>
            <a:ext cx="11913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0550" y="3438971"/>
            <a:ext cx="1798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88691" y="3438971"/>
            <a:ext cx="12552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43907" y="3438971"/>
            <a:ext cx="120848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52392" y="3438971"/>
            <a:ext cx="147697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9362" y="343897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67017" y="343897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04671" y="3438971"/>
            <a:ext cx="16054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0080" y="3438971"/>
            <a:ext cx="11913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0550" y="3949451"/>
            <a:ext cx="1798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88691" y="3949451"/>
            <a:ext cx="12552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43907" y="3949451"/>
            <a:ext cx="120848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52392" y="3949451"/>
            <a:ext cx="147697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9362" y="394945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67017" y="3949451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04671" y="3949451"/>
            <a:ext cx="16054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10080" y="3949451"/>
            <a:ext cx="11913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0550" y="4459932"/>
            <a:ext cx="1798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88691" y="4459932"/>
            <a:ext cx="12552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43907" y="4459932"/>
            <a:ext cx="120848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52392" y="4459932"/>
            <a:ext cx="147697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29362" y="4459932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67017" y="4459932"/>
            <a:ext cx="12376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04671" y="4459932"/>
            <a:ext cx="16054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10080" y="4459932"/>
            <a:ext cx="11913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121" y="2560885"/>
            <a:ext cx="485775" cy="23425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121" y="3071366"/>
            <a:ext cx="476250" cy="23425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121" y="3581846"/>
            <a:ext cx="485775" cy="23425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6121" y="4092326"/>
            <a:ext cx="561975" cy="23425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121" y="4602807"/>
            <a:ext cx="504825" cy="23425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Performance Benchmarks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4818"/>
            <a:ext cx="5324475" cy="24111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985343"/>
            <a:ext cx="4924425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312" y="238125"/>
            <a:ext cx="1376362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3994993"/>
            <a:ext cx="49244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3F4F6"/>
                </a:solidFill>
                <a:latin typeface="Plus Jakarta Sans"/>
              </a:rPr>
              <a:t>Annual Enterprise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309318"/>
            <a:ext cx="49244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Based on Delhivery Case Study (10,000 Fleet / 1.5M km Daily)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689026"/>
            <a:ext cx="3429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3667125"/>
            <a:ext cx="3429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645223"/>
            <a:ext cx="3429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58025" y="2590502"/>
            <a:ext cx="363045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25,500 Liters /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2847677"/>
            <a:ext cx="34575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Direct diesel fuel reduction across daily dispatch routes.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568600"/>
            <a:ext cx="423490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24,944 Tonnes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825775"/>
            <a:ext cx="4033242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CO₂ carbon emissions offset annually through route optimization.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4546699"/>
            <a:ext cx="433054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12:1 Operational ROI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4803874"/>
            <a:ext cx="4124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Substantial net savings relative to physical QPU cloud API call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Enterprise Business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1275"/>
            <a:ext cx="352425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1275"/>
            <a:ext cx="3524250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81275"/>
            <a:ext cx="3524250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238125"/>
            <a:ext cx="136207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57500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E-Commerce Last-Mile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Optimizes dense 15–20 parcel delivery runs per van in congested metro pin codes for platforms like Amazon, Porter, and BlueDart.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857500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EV Fleet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Minimizes battery drain while integrating charging station node stops directly as constraint penalties into the QUBO Hamiltonian.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950" y="2857500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29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Space Grotesk"/>
              </a:rPr>
              <a:t>Cold-Chain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388620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Time-window constrained routing for pharmaceutical and perishable grocery delivery where traffic delays result in high spoilage.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98132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9637" y="2981325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2487" y="2981325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Commercial Use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24300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81475"/>
            <a:ext cx="2536775" cy="11197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3" y="2585442"/>
            <a:ext cx="2536775" cy="11197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42" y="4181475"/>
            <a:ext cx="2536775" cy="11197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050" y="2585442"/>
            <a:ext cx="2536775" cy="111978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475" y="238125"/>
            <a:ext cx="19812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7626" y="4343400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Phase 1: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619625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CPU Simulated Annealing (`neal`) + OSMNX Mumbai Graph + Leaflet Web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8635" y="274736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Phase 2: Cloud QPU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958" y="3023592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Direct API connection to physical D-Wave Advantage QPU hardware via Leap Cloud.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644" y="4343400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Phase 3: Hybrid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4967" y="4619625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Sub-second hybrid execution combining classical clustering with quantum route annealing.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652" y="274736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Phase 4: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975" y="3023592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Enterprise rollout for nationwide multi-depot fleet dispatch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4162" y="3848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5171" y="3848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6179" y="3848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7188" y="3848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Scalability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387" y="238125"/>
            <a:ext cx="1538287" cy="2762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33476"/>
          <a:ext cx="11010898" cy="293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72146"/>
                <a:gridCol w="2670125"/>
                <a:gridCol w="3360241"/>
                <a:gridCol w="2808386"/>
              </a:tblGrid>
              <a:tr h="48899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Feature /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Google Maps / Basic VRP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Standard Heuristics (OR-Tools)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Space Grotesk"/>
                        </a:rPr>
                        <a:t>QuantaFleet QIO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899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Optimization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Point-to-Point A*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Deterministic Local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QUBO Quantum Annealing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899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Global Energy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Trapped in Local Minima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Quantum Tunneling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899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 Road Routing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Euclidean Straight-Line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OSMNX Road Graph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899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Fuel Savings Potential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0% (Baseline)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2% - 3%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6.8% - 11.2%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900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Hardware Ready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Native D-Wave Compatible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816274"/>
            <a:ext cx="217214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696" y="2816274"/>
            <a:ext cx="2670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32821" y="2816274"/>
            <a:ext cx="33602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93063" y="2816274"/>
            <a:ext cx="28083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299073"/>
            <a:ext cx="217214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2696" y="3299073"/>
            <a:ext cx="2670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32821" y="3299073"/>
            <a:ext cx="33602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93063" y="3299073"/>
            <a:ext cx="28083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3781871"/>
            <a:ext cx="217214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2696" y="3781871"/>
            <a:ext cx="2670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32821" y="3781871"/>
            <a:ext cx="33602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93063" y="3781871"/>
            <a:ext cx="28083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4264669"/>
            <a:ext cx="217214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2696" y="4264669"/>
            <a:ext cx="2670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32821" y="4264669"/>
            <a:ext cx="33602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93063" y="4264669"/>
            <a:ext cx="28083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0550" y="4775150"/>
            <a:ext cx="217214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62696" y="4775150"/>
            <a:ext cx="2670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32821" y="4775150"/>
            <a:ext cx="33602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93063" y="4775150"/>
            <a:ext cx="28083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271" y="3962846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146" y="4956125"/>
            <a:ext cx="10477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271" y="3480048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513" y="3962846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513" y="3480048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146" y="3480048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4271" y="4956125"/>
            <a:ext cx="10477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4513" y="4956125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4146" y="3962846"/>
            <a:ext cx="1143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146" y="3480048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271" y="3480048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513" y="3480048"/>
            <a:ext cx="1143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4146" y="3962846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271" y="3962846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513" y="3962846"/>
            <a:ext cx="1143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4513" y="4407544"/>
            <a:ext cx="923925" cy="23425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146" y="4956125"/>
            <a:ext cx="10477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4271" y="4956125"/>
            <a:ext cx="10477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4513" y="4956125"/>
            <a:ext cx="114300" cy="1333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Why QuantaFleet Wins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4224337"/>
            <a:ext cx="4800600" cy="466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7487" y="238125"/>
            <a:ext cx="1500187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276" y="2166937"/>
            <a:ext cx="11581447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Space Grotesk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138487"/>
            <a:ext cx="110299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"Reducing Enterprise Fleet Distance by 11.2% via Quantum Tunneling Optimization"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662362"/>
            <a:ext cx="11029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Thank you respected judges. We welcome your technical &amp; commercial questions.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1925" y="4386262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86025" y="3033712"/>
            <a:ext cx="721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86025" y="3795712"/>
            <a:ext cx="721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86025" y="3795712"/>
            <a:ext cx="721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31765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81400" y="3176885"/>
            <a:ext cx="612457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https://truckguru.co.in/blog/wp-content/uploads/2026/05/General-Problems-in-Transportation.jpeg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3416349"/>
            <a:ext cx="61245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truckguru.co.in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025" y="39481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81400" y="3948410"/>
            <a:ext cx="612457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https://blog.equinix.com/wp-content/uploads/2026/01/AdobeStock_605620855-1024x512.jpeg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4187874"/>
            <a:ext cx="61245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blog.equinix.com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